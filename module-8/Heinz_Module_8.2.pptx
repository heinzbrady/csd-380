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73971" autoAdjust="0"/>
  </p:normalViewPr>
  <p:slideViewPr>
    <p:cSldViewPr snapToGrid="0" snapToObjects="1">
      <p:cViewPr>
        <p:scale>
          <a:sx n="120" d="100"/>
          <a:sy n="120" d="100"/>
        </p:scale>
        <p:origin x="120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055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CSD 380 • Module 8.2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509760" y="6510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Brady Heinz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3C5FD"/>
                </a:solidFill>
              </a:rPr>
              <a:t>ESTABLISHING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19072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Just, Learning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Culture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76656" y="33832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Barriers and challenges to implementation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 rot="2700000">
            <a:off x="7589520" y="1143000"/>
            <a:ext cx="3108960" cy="3108960"/>
          </a:xfrm>
          <a:prstGeom prst="arc">
            <a:avLst/>
          </a:prstGeom>
          <a:solidFill>
            <a:srgbClr val="0F172A">
              <a:alpha val="0"/>
            </a:srgbClr>
          </a:solidFill>
          <a:ln w="88900">
            <a:solidFill>
              <a:srgbClr val="60A5F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13500000">
            <a:off x="8275320" y="1828800"/>
            <a:ext cx="1737360" cy="1737360"/>
          </a:xfrm>
          <a:prstGeom prst="arc">
            <a:avLst/>
          </a:prstGeom>
          <a:solidFill>
            <a:srgbClr val="0F172A">
              <a:alpha val="0"/>
            </a:srgbClr>
          </a:solidFill>
          <a:ln w="889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2542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6656" y="52852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Brady Heinz  |  CSD 380  |  Module 8.2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What is a just, learning culture?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goal is fair accountability plus continuous improvement—not “no accountability.”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246120" cy="4206240"/>
          </a:xfrm>
          <a:prstGeom prst="roundRect">
            <a:avLst>
              <a:gd name="adj" fmla="val 140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</a:rPr>
              <a:t>JUST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2633472"/>
            <a:ext cx="25146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75569"/>
                </a:solidFill>
              </a:rPr>
              <a:t>Respond fairly to behavior and context. Human error is treated differently from reckless behavior.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87952" y="2834640"/>
            <a:ext cx="658368" cy="65836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66360" y="1508760"/>
            <a:ext cx="3246120" cy="4206240"/>
          </a:xfrm>
          <a:prstGeom prst="roundRect">
            <a:avLst>
              <a:gd name="adj" fmla="val 1408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0680" y="1874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</a:rPr>
              <a:t>LEARNING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532120" y="2633472"/>
            <a:ext cx="25146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75569"/>
                </a:solidFill>
              </a:rPr>
              <a:t>Use incidents, mistakes, and near misses to understand system conditions and improve how work is done.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705088" y="2834640"/>
            <a:ext cx="658368" cy="65836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46920" y="1508760"/>
            <a:ext cx="1874520" cy="420624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93808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</a:rPr>
              <a:t>RESULT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902952" y="2514600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More reporting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Better learning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Safer, more reliable systems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Why implementation is difficult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barriers reinforce one another, creating a cycle that suppresses learning.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83480" y="2331720"/>
            <a:ext cx="2194560" cy="21945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0952" y="28803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LOW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TRUST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2788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78992" y="1792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Fear of blame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38160" y="1508760"/>
            <a:ext cx="2788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02752" y="1792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Weak leadership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12480" y="4265676"/>
            <a:ext cx="2788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77072" y="4535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Unclear accountability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251960"/>
            <a:ext cx="2788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8992" y="4535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Poor feedback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703320" y="2011680"/>
            <a:ext cx="1280160" cy="8686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H="1">
            <a:off x="7208522" y="2011680"/>
            <a:ext cx="929638" cy="6858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H="1" flipV="1">
            <a:off x="7208522" y="3977640"/>
            <a:ext cx="1203958" cy="6858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3703320" y="4032504"/>
            <a:ext cx="1203958" cy="630936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54680" y="5559552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When people expect punishment, inconsistency, or no visible improvement, they are less likely to speak up. Less reporting means fewer opportunities to learn.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Barrier 1: Fear, blame, and low psychological safety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50876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" y="17099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</a:rPr>
              <a:t>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371600" y="170992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Fear of consequences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77824" y="2221992"/>
            <a:ext cx="2990088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Employees may worry that reporting a mistake will damage their reputation, job security, or standing with coworkers.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0832" y="150876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7099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84064" y="170992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Past experience matters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0288" y="2221992"/>
            <a:ext cx="2990088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history of punitive reactions makes new “blameless” policies hard to trust. Culture is judged by what leaders actually do.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3296" y="150876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84464" y="17099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</a:rPr>
              <a:t>03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796528" y="170992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Silence blocks learning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02752" y="2221992"/>
            <a:ext cx="2990088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When people hide errors or near misses, organizations lose information needed to find system weaknesses and prevent recurrence.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Barrier 2: Leadership and inconsistent accountability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389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A just culture fails when the rules change depending on the person, team, or severity of the outcome.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21305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Mixed messages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69080" y="213055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Leaders say “speak up,” but punish the first visible mistake.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063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3044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Outcome bias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69080" y="304495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 bad outcome can trigger harsher judgment even when the behavior was similar.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069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39593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No leader modeling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69080" y="395935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Managers who blame publicly teach employees that reporting is unsafe.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9834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48737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Accountability confusion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069080" y="487375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Teams may confuse “just” with “anything goes,” weakening confidence in the process.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Barrier 3: Process, time, and communication gaps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481328"/>
            <a:ext cx="33832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7824" y="168249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Reporting friction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7824" y="2194560"/>
            <a:ext cx="294436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Complex or time-consuming systems discourage reporting.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481328"/>
            <a:ext cx="33832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08576" y="168249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Limited time/resources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08576" y="2194560"/>
            <a:ext cx="294436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Teams under pressure may treat reflection as optional work.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19872" y="1481328"/>
            <a:ext cx="33832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39328" y="168249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Weak feedback loops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339328" y="2194560"/>
            <a:ext cx="294436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If reporters never hear what changed, reporting can feel pointless.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630168"/>
            <a:ext cx="33832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7824" y="383133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Siloed teams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77824" y="4343400"/>
            <a:ext cx="294436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Poor cross-team cooperation makes it harder to understand contributing factors.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3630168"/>
            <a:ext cx="33832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08576" y="383133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Training gaps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08576" y="4343400"/>
            <a:ext cx="294436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People may not know what to report or how the process works.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9872" y="3630168"/>
            <a:ext cx="33832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39328" y="3831336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Unclear measures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39328" y="4343400"/>
            <a:ext cx="294436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Inconsistent definitions and metrics make progress difficult to judge.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How organizations can overcome the barriers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Implementation works best when culture, process, and leadership reinforce the same message.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5819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4356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</a:rPr>
              <a:t>Set clear rules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703320" y="1435608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Define how human error, at-risk choices, and reckless behavior will be handled.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37744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25420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3957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</a:rPr>
              <a:t>Model the culture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703320" y="2395728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Leaders respond consistently, ask “what allowed this?” and avoid public blame.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333756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35021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355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</a:rPr>
              <a:t>Make reporting easy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703320" y="3355848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Use simple, accessible reporting and postmortem processes with clear criteria.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429768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446227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315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</a:rPr>
              <a:t>Close the loop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703320" y="4315968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Share lessons, assign action items, and show employees what changed.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3232" y="525780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5422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276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</a:rPr>
              <a:t>Train and repeat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703320" y="5276088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Build skills in incident review, constructive language, and system thinking.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Key takeaways &amp; references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A just culture is built through repeated, credible actions—not a one-time policy.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3703320" cy="4526280"/>
          </a:xfrm>
          <a:prstGeom prst="roundRect">
            <a:avLst>
              <a:gd name="adj" fmla="val 123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20" dirty="0">
                <a:solidFill>
                  <a:srgbClr val="93C5FD"/>
                </a:solidFill>
              </a:rPr>
              <a:t>KEY TAKEAWAYS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Trust is the foundation.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Consistency matters more than slogans.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Reporting must lead to visible learning and improvement.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Accountability and blameless learning can coexist.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00600" y="1481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Selected References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28032" y="1993392"/>
            <a:ext cx="6583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Google. (n.d.). Postmortem culture: Learning from failure. Site Reliability Engineering.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Atlassian. (n.d.). How to run a blameless postmortem.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van Marum, S., Verhoeven, D., &amp; de Rooy, D. (2022). The barriers and enhancers to trust in a just culture in hospital settings: A systematic review. Journal of Patient Safety, 18(7).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Petschonek et al. / AHRQ PSNet resources on just culture and patient safety learning systems.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</a:rPr>
              <a:t>Requirements for implementing a “just culture” within healthcare organisations: An integrative review. (2023).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828032" y="54864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563EB"/>
                </a:solidFill>
              </a:rPr>
              <a:t>Research consistently points to leadership commitment, open communication, education, fair accountability, and useful feedback as core implementation requirements.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726</Words>
  <Application>Microsoft Office PowerPoint</Application>
  <PresentationFormat>Widescreen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Bellevue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Establishing a Just, Learning Culture</dc:title>
  <dc:subject>Module 8.2 Assignment</dc:subject>
  <dc:creator>Brady Heinz</dc:creator>
  <cp:lastModifiedBy>Brady Heinz</cp:lastModifiedBy>
  <cp:revision>2</cp:revision>
  <dcterms:created xsi:type="dcterms:W3CDTF">2026-09-23T21:27:59Z</dcterms:created>
  <dcterms:modified xsi:type="dcterms:W3CDTF">2026-09-23T21:31:13Z</dcterms:modified>
</cp:coreProperties>
</file>