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6247" autoAdjust="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738133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94360" y="647395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CSD380 • Module 7.2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686800" y="6473952"/>
            <a:ext cx="2880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Pager Rotation Duties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473952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473952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960120"/>
            <a:ext cx="603504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</a:rPr>
              <a:t>PAGER</a:t>
            </a:r>
            <a:endParaRPr lang="en-US" sz="4200" dirty="0"/>
          </a:p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</a:rPr>
              <a:t>ROTATION</a:t>
            </a:r>
            <a:endParaRPr lang="en-US" sz="4200" dirty="0"/>
          </a:p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</a:rPr>
              <a:t>DUTIES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768096" y="3429000"/>
            <a:ext cx="5760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CBD5E1"/>
                </a:solidFill>
              </a:rPr>
              <a:t>Industry best practices for sustainable DevOps on-call coverage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7543800" y="1143000"/>
            <a:ext cx="3474720" cy="3474720"/>
          </a:xfrm>
          <a:prstGeom prst="roundRect">
            <a:avLst/>
          </a:prstGeom>
          <a:solidFill>
            <a:srgbClr val="172554">
              <a:alpha val="92000"/>
            </a:srgbClr>
          </a:solidFill>
          <a:ln w="1905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973568" y="164592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60A5FA"/>
                </a:solidFill>
              </a:rPr>
              <a:t>24/7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7973568" y="24231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</a:rPr>
              <a:t>coverage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818120" y="315468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CBD5E1"/>
                </a:solidFill>
              </a:rPr>
              <a:t>Respond • Escalate • Learn • Improve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68096" y="576072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</a:rPr>
              <a:t>Brady Heinz  |  CSD380 DevOps  |  Module 7.2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473952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38912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F172A"/>
                </a:solidFill>
              </a:rPr>
              <a:t>What is a pager rotation?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58368" y="932688"/>
            <a:ext cx="10698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</a:rPr>
              <a:t>A planned schedule that assigns responsibility for responding to production incidents.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85800" y="1417320"/>
            <a:ext cx="3429000" cy="356616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  <a:effectLst>
            <a:outerShdw blurRad="15240" dist="635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85800" y="1417320"/>
            <a:ext cx="73152" cy="35661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14400" y="1618488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</a:rPr>
              <a:t>Primary responder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2057400"/>
            <a:ext cx="2990088" cy="2743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</a:rPr>
              <a:t>Receives the first page, acknowledges the incident, begins triage, and works toward mitigation.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89120" y="1417320"/>
            <a:ext cx="3429000" cy="356616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  <a:effectLst>
            <a:outerShdw blurRad="15240" dist="635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389120" y="1417320"/>
            <a:ext cx="73152" cy="35661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617720" y="1618488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</a:rPr>
              <a:t>Secondary / backup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617720" y="2057400"/>
            <a:ext cx="2990088" cy="2743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</a:rPr>
              <a:t>Provides coverage if the primary is unavailable, overloaded, or needs help with a complex incident.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092440" y="1417320"/>
            <a:ext cx="3429000" cy="356616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  <a:effectLst>
            <a:outerShdw blurRad="15240" dist="635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8092440" y="1417320"/>
            <a:ext cx="73152" cy="356616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321040" y="1618488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</a:rPr>
              <a:t>Escalation path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321040" y="2057400"/>
            <a:ext cx="2990088" cy="2743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</a:rPr>
              <a:t>Defines who is contacted next when the issue cannot be resolved quickly or crosses team boundaries.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914400" y="5321808"/>
            <a:ext cx="1033272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F172A"/>
                </a:solidFill>
              </a:rPr>
              <a:t>DevOps connection: shared on-call responsibility keeps developers close to production behavior and creates faster feedback for reliability improvements.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473952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38912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F172A"/>
                </a:solidFill>
              </a:rPr>
              <a:t>Core duties while on call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58368" y="932688"/>
            <a:ext cx="10698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</a:rPr>
              <a:t>The goal is not just to answer alerts—it is to restore service safely and capture what the team learns.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731520" y="1417320"/>
            <a:ext cx="338328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932688" y="1673352"/>
            <a:ext cx="530352" cy="53035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32688" y="1746504"/>
            <a:ext cx="5303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600200" y="164592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172A"/>
                </a:solidFill>
              </a:rPr>
              <a:t>Acknowledge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600200" y="2075688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</a:rPr>
              <a:t>Confirm ownership of the page quickly.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526280" y="1417320"/>
            <a:ext cx="338328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727448" y="1673352"/>
            <a:ext cx="530352" cy="53035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727448" y="1746504"/>
            <a:ext cx="5303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394960" y="164592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172A"/>
                </a:solidFill>
              </a:rPr>
              <a:t>Triage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5394960" y="2075688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</a:rPr>
              <a:t>Determine impact, severity, and likely cause.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321040" y="1417320"/>
            <a:ext cx="338328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8522208" y="1673352"/>
            <a:ext cx="530352" cy="53035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522208" y="1746504"/>
            <a:ext cx="5303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9189720" y="164592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172A"/>
                </a:solidFill>
              </a:rPr>
              <a:t>Mitigate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9189720" y="2075688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</a:rPr>
              <a:t>Restore service first; avoid risky changes when possible.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731520" y="3566160"/>
            <a:ext cx="338328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932688" y="3822192"/>
            <a:ext cx="530352" cy="53035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932688" y="3895344"/>
            <a:ext cx="5303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600200" y="379476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172A"/>
                </a:solidFill>
              </a:rPr>
              <a:t>Escalate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1600200" y="4224528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</a:rPr>
              <a:t>Bring in backup or specialists when needed.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4526280" y="3566160"/>
            <a:ext cx="338328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727448" y="3822192"/>
            <a:ext cx="530352" cy="53035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727448" y="3895344"/>
            <a:ext cx="5303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5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5394960" y="379476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172A"/>
                </a:solidFill>
              </a:rPr>
              <a:t>Document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5394960" y="4224528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</a:rPr>
              <a:t>Record actions, timeline, and unresolved work.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8321040" y="3566160"/>
            <a:ext cx="338328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8522208" y="3822192"/>
            <a:ext cx="530352" cy="53035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8522208" y="3895344"/>
            <a:ext cx="5303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6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9189720" y="379476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172A"/>
                </a:solidFill>
              </a:rPr>
              <a:t>Follow up</a:t>
            </a:r>
            <a:endParaRPr lang="en-US" sz="1700" dirty="0"/>
          </a:p>
        </p:txBody>
      </p:sp>
      <p:sp>
        <p:nvSpPr>
          <p:cNvPr id="33" name="Text 31"/>
          <p:cNvSpPr/>
          <p:nvPr/>
        </p:nvSpPr>
        <p:spPr>
          <a:xfrm>
            <a:off x="9189720" y="4224528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</a:rPr>
              <a:t>Create fixes, automation, or postmortem actions.</a:t>
            </a:r>
            <a:endParaRPr lang="en-US" sz="1250" dirty="0"/>
          </a:p>
        </p:txBody>
      </p:sp>
      <p:sp>
        <p:nvSpPr>
          <p:cNvPr id="3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473952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38912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F172A"/>
                </a:solidFill>
              </a:rPr>
              <a:t>Build a fair, sustainable rotation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58368" y="932688"/>
            <a:ext cx="10698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</a:rPr>
              <a:t>Coverage must protect the service without exhausting the people supporting it.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777240" y="1417320"/>
            <a:ext cx="5852160" cy="4480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475569"/>
                </a:solidFill>
              </a:rPr>
              <a:t>Rotate duties across qualified team members instead of relying on one “hero.”</a:t>
            </a:r>
            <a:endParaRPr lang="en-US" sz="1700" dirty="0"/>
          </a:p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475569"/>
                </a:solidFill>
              </a:rPr>
              <a:t>Use primary and secondary responders so there is always a backup.</a:t>
            </a:r>
            <a:endParaRPr lang="en-US" sz="1700" dirty="0"/>
          </a:p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475569"/>
                </a:solidFill>
              </a:rPr>
              <a:t>Keep shifts short enough to limit fatigue; Google recommends 12-hour shifts for rotations with regular paging.</a:t>
            </a:r>
            <a:endParaRPr lang="en-US" sz="1700" dirty="0"/>
          </a:p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475569"/>
                </a:solidFill>
              </a:rPr>
              <a:t>Allow simple shift swaps and overrides for illness, travel, or personal conflicts.</a:t>
            </a:r>
            <a:endParaRPr lang="en-US" sz="1700" dirty="0"/>
          </a:p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475569"/>
                </a:solidFill>
              </a:rPr>
              <a:t>Consider time zones or follow-the-sun coverage when teams are distributed.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7132320" y="1463040"/>
            <a:ext cx="4160520" cy="406908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498080" y="182880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563EB"/>
                </a:solidFill>
              </a:rPr>
              <a:t>SUSTAINABILITY CHECK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635240" y="2606040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172A"/>
                </a:solidFill>
              </a:rPr>
              <a:t>Are pages frequent enough to disrupt sleep, project work, or recovery time?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635240" y="3703320"/>
            <a:ext cx="3154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475569"/>
                </a:solidFill>
              </a:rPr>
              <a:t>If yes, the answer is not simply “add more people.” Reduce noisy alerts, fix recurring failures, and automate repetitive recovery work.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473952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38912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F172A"/>
                </a:solidFill>
              </a:rPr>
              <a:t>Alerts should be actionable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58368" y="932688"/>
            <a:ext cx="10698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</a:rPr>
              <a:t>A page should mean a human needs to do something now.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731520" y="1417320"/>
            <a:ext cx="3383280" cy="425196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  <a:effectLst>
            <a:outerShdw blurRad="15240" dist="635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31520" y="1417320"/>
            <a:ext cx="73152" cy="425196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60120" y="1618488"/>
            <a:ext cx="2971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</a:rPr>
              <a:t>High signal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60120" y="2057400"/>
            <a:ext cx="2944368" cy="3429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</a:rPr>
              <a:t>Page on symptoms that threaten users or service objectives. Avoid alerts that are informational only.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407408" y="1417320"/>
            <a:ext cx="3383280" cy="425196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  <a:effectLst>
            <a:outerShdw blurRad="15240" dist="635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407408" y="1417320"/>
            <a:ext cx="73152" cy="42519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636008" y="1618488"/>
            <a:ext cx="2971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</a:rPr>
              <a:t>Clear context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636008" y="2057400"/>
            <a:ext cx="2944368" cy="3429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</a:rPr>
              <a:t>Include service, severity, dashboards, logs, runbook links, and the first diagnostic steps.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083296" y="1417320"/>
            <a:ext cx="3383280" cy="425196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  <a:effectLst>
            <a:outerShdw blurRad="15240" dist="635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8083296" y="1417320"/>
            <a:ext cx="73152" cy="425196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311896" y="1618488"/>
            <a:ext cx="2971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</a:rPr>
              <a:t>Control alert fatigue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311896" y="2057400"/>
            <a:ext cx="2944368" cy="3429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</a:rPr>
              <a:t>Review false positives and repeat pages. Noisy monitoring makes important alerts easier to miss.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1143000" y="589788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</a:rPr>
              <a:t>Google SRE guidance: new paging alerts should be reviewed, tested, and paired with a playbook entry.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473952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38912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F172A"/>
                </a:solidFill>
              </a:rPr>
              <a:t>Runbooks, training, and access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58368" y="932688"/>
            <a:ext cx="10698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</a:rPr>
              <a:t>On-call engineers should not have to invent the response process during an outage.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822960" y="1417320"/>
            <a:ext cx="507492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  <a:effectLst>
            <a:outerShdw blurRad="15240" dist="635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22960" y="1417320"/>
            <a:ext cx="73152" cy="18288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51560" y="1618488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</a:rPr>
              <a:t>Runbooks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51560" y="2057400"/>
            <a:ext cx="4636008" cy="1005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</a:rPr>
              <a:t>Document common failures, safe recovery steps, escalation contacts, and rollback procedures.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0" y="1417320"/>
            <a:ext cx="507492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  <a:effectLst>
            <a:outerShdw blurRad="15240" dist="635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400800" y="1417320"/>
            <a:ext cx="73152" cy="18288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629400" y="1618488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</a:rPr>
              <a:t>Training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629400" y="2057400"/>
            <a:ext cx="4636008" cy="1005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</a:rPr>
              <a:t>Have new responders shadow experienced engineers and practice realistic incident scenarios.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22960" y="3657600"/>
            <a:ext cx="507492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  <a:effectLst>
            <a:outerShdw blurRad="15240" dist="635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822960" y="3657600"/>
            <a:ext cx="73152" cy="182880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051560" y="3858768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</a:rPr>
              <a:t>Access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51560" y="4297680"/>
            <a:ext cx="4636008" cy="1005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</a:rPr>
              <a:t>Verify permissions to monitoring, logs, deployment tools, infrastructure, and communication channels before the shift.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0" y="3657600"/>
            <a:ext cx="507492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  <a:effectLst>
            <a:outerShdw blurRad="15240" dist="635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400800" y="3657600"/>
            <a:ext cx="73152" cy="182880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629400" y="3858768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</a:rPr>
              <a:t>Past incidents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629400" y="4297680"/>
            <a:ext cx="4636008" cy="1005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</a:rPr>
              <a:t>Use postmortems and previous incident reports to teach patterns and improve response speed.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473952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38912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F172A"/>
                </a:solidFill>
              </a:rPr>
              <a:t>Handoffs and escalation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58368" y="932688"/>
            <a:ext cx="10698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</a:rPr>
              <a:t>Good transitions prevent context from disappearing when the pager changes hands.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58368" y="1920240"/>
            <a:ext cx="3273552" cy="1920240"/>
          </a:xfrm>
          <a:prstGeom prst="chevron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234440" y="23317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0F172A"/>
                </a:solidFill>
              </a:rPr>
              <a:t>Outgoing responder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280160" y="278892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75569"/>
                </a:solidFill>
              </a:rPr>
              <a:t>Open incidents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475569"/>
                </a:solidFill>
              </a:rPr>
              <a:t>Recent changes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475569"/>
                </a:solidFill>
              </a:rPr>
              <a:t>Known risks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475569"/>
                </a:solidFill>
              </a:rPr>
              <a:t>Pending follow-up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149306" y="1920240"/>
            <a:ext cx="3440214" cy="1920240"/>
          </a:xfrm>
          <a:prstGeom prst="chevron">
            <a:avLst/>
          </a:prstGeom>
          <a:solidFill>
            <a:srgbClr val="CFFAFE"/>
          </a:solidFill>
          <a:ln w="12700">
            <a:solidFill>
              <a:srgbClr val="67E8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120640" y="23317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0F172A"/>
                </a:solidFill>
              </a:rPr>
              <a:t>Handoff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5074920" y="2788920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75569"/>
                </a:solidFill>
              </a:rPr>
              <a:t>Prefer business hours when both people can communicate directly.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806906" y="1920240"/>
            <a:ext cx="3440214" cy="1920240"/>
          </a:xfrm>
          <a:prstGeom prst="chevron">
            <a:avLst/>
          </a:prstGeom>
          <a:solidFill>
            <a:srgbClr val="DCFCE7"/>
          </a:solidFill>
          <a:ln w="12700">
            <a:solidFill>
              <a:srgbClr val="86EFA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549640" y="23317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0F172A"/>
                </a:solidFill>
              </a:rPr>
              <a:t>Incoming responder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8595360" y="278892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75569"/>
                </a:solidFill>
              </a:rPr>
              <a:t>Confirm coverage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475569"/>
                </a:solidFill>
              </a:rPr>
              <a:t>Review context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475569"/>
                </a:solidFill>
              </a:rPr>
              <a:t>Check tools/access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475569"/>
                </a:solidFill>
              </a:rPr>
              <a:t>Own new pages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97280" y="4754880"/>
            <a:ext cx="9966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172A"/>
                </a:solidFill>
              </a:rPr>
              <a:t>Escalation policies should be explicit: who is next, how long to wait, and when to declare a major incident.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473952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38912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F172A"/>
                </a:solidFill>
              </a:rPr>
              <a:t>After the incident: learn and improve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58368" y="932688"/>
            <a:ext cx="10698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</a:rPr>
              <a:t>Pager duty should create engineering feedback, not just repeated firefighting.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822960" y="1417320"/>
            <a:ext cx="6492240" cy="4480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475569"/>
                </a:solidFill>
              </a:rPr>
              <a:t>Write blameless postmortems for significant incidents and focus on system causes rather than individual blame.</a:t>
            </a:r>
            <a:endParaRPr lang="en-US" sz="1700" dirty="0"/>
          </a:p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475569"/>
                </a:solidFill>
              </a:rPr>
              <a:t>Track repeat incidents and pager volume to identify operational overload.</a:t>
            </a:r>
            <a:endParaRPr lang="en-US" sz="1700" dirty="0"/>
          </a:p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475569"/>
                </a:solidFill>
              </a:rPr>
              <a:t>Turn lessons into action items: code fixes, better tests, safer deployments, automation, or improved documentation.</a:t>
            </a:r>
            <a:endParaRPr lang="en-US" sz="1700" dirty="0"/>
          </a:p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475569"/>
                </a:solidFill>
              </a:rPr>
              <a:t>Review on-call pain points with the team and adjust schedules, alerts, and escalation policies over time.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7726680" y="1600200"/>
            <a:ext cx="155448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  <a:effectLst>
            <a:outerShdw blurRad="15240" dist="635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726680" y="1600200"/>
            <a:ext cx="73152" cy="10515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955280" y="1801368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</a:rPr>
              <a:t>PAGE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955280" y="2240280"/>
            <a:ext cx="1115568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</a:rPr>
              <a:t>Detect impact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9464040" y="1600200"/>
            <a:ext cx="155448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  <a:effectLst>
            <a:outerShdw blurRad="15240" dist="635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9464040" y="1600200"/>
            <a:ext cx="73152" cy="105156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9692640" y="1801368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</a:rPr>
              <a:t>FIX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692640" y="2240280"/>
            <a:ext cx="1115568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</a:rPr>
              <a:t>Restore service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726680" y="2880360"/>
            <a:ext cx="155448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  <a:effectLst>
            <a:outerShdw blurRad="15240" dist="635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7726680" y="2880360"/>
            <a:ext cx="73152" cy="105156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955280" y="3081528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</a:rPr>
              <a:t>LEARN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955280" y="3520440"/>
            <a:ext cx="1115568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</a:rPr>
              <a:t>Find causes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9464040" y="2880360"/>
            <a:ext cx="155448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  <a:effectLst>
            <a:outerShdw blurRad="15240" dist="635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9464040" y="2880360"/>
            <a:ext cx="73152" cy="10515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9692640" y="3081528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</a:rPr>
              <a:t>IMPROVE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692640" y="3520440"/>
            <a:ext cx="1115568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</a:rPr>
              <a:t>Prevent repeats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7452360" y="4892040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172A"/>
                </a:solidFill>
              </a:rPr>
              <a:t>A healthy rotation should get quieter over time as recurring problems are engineered away.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473952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38912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F172A"/>
                </a:solidFill>
              </a:rPr>
              <a:t>Key takeaways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58368" y="932688"/>
            <a:ext cx="10698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</a:rPr>
              <a:t>Effective pager rotations balance reliability, clarity, and the well-being of the team.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563EB"/>
                </a:solidFill>
              </a:rPr>
              <a:t>01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645920" y="132588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172A"/>
                </a:solidFill>
              </a:rPr>
              <a:t>Share ownership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3977640" y="132588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475569"/>
                </a:solidFill>
              </a:rPr>
              <a:t>Rotate responsibility among people who understand the service.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1645920" y="1920240"/>
            <a:ext cx="93268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14400" y="2313432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563EB"/>
                </a:solidFill>
              </a:rPr>
              <a:t>02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645920" y="2267712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172A"/>
                </a:solidFill>
              </a:rPr>
              <a:t>Make pages meaningful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3977640" y="2267712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475569"/>
                </a:solidFill>
              </a:rPr>
              <a:t>Only wake someone when immediate human action is required.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1645920" y="2862072"/>
            <a:ext cx="93268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914400" y="3255264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563EB"/>
                </a:solidFill>
              </a:rPr>
              <a:t>03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645920" y="3209544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172A"/>
                </a:solidFill>
              </a:rPr>
              <a:t>Prepare responders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3977640" y="3209544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475569"/>
                </a:solidFill>
              </a:rPr>
              <a:t>Use runbooks, training, access checks, and clear escalation paths.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1645920" y="3803904"/>
            <a:ext cx="93268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914400" y="4197096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563EB"/>
                </a:solidFill>
              </a:rPr>
              <a:t>04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645920" y="4151376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172A"/>
                </a:solidFill>
              </a:rPr>
              <a:t>Protect sustainability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3977640" y="4151376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475569"/>
                </a:solidFill>
              </a:rPr>
              <a:t>Use backups, fair schedules, swaps, and manageable shift lengths.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1645920" y="4745736"/>
            <a:ext cx="93268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914400" y="5138928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563EB"/>
                </a:solidFill>
              </a:rPr>
              <a:t>05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645920" y="5093208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172A"/>
                </a:solidFill>
              </a:rPr>
              <a:t>Close the loop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3977640" y="5093208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475569"/>
                </a:solidFill>
              </a:rPr>
              <a:t>Use incidents to improve code, automation, monitoring, and documentation.</a:t>
            </a:r>
            <a:endParaRPr lang="en-US" sz="1450" dirty="0"/>
          </a:p>
        </p:txBody>
      </p:sp>
      <p:sp>
        <p:nvSpPr>
          <p:cNvPr id="23" name="Shape 21"/>
          <p:cNvSpPr/>
          <p:nvPr/>
        </p:nvSpPr>
        <p:spPr>
          <a:xfrm>
            <a:off x="1645920" y="5687568"/>
            <a:ext cx="93268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473952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38912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F172A"/>
                </a:solidFill>
              </a:rPr>
              <a:t>References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58368" y="932688"/>
            <a:ext cx="10698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</a:rPr>
              <a:t>Industry resources used for this presentation.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914400" y="1325880"/>
            <a:ext cx="10241280" cy="4480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75569"/>
                </a:solidFill>
              </a:rPr>
              <a:t>Google Site Reliability Engineering. </a:t>
            </a:r>
            <a:r>
              <a:rPr lang="en-US" sz="1500" dirty="0">
                <a:solidFill>
                  <a:srgbClr val="475569"/>
                </a:solidFill>
              </a:rPr>
              <a:t>“Being On-Call.” Site Reliability Engineering.
https://sre.google/sre-book/being-on-call/
</a:t>
            </a:r>
            <a:r>
              <a:rPr lang="en-US" sz="1500" b="1" dirty="0">
                <a:solidFill>
                  <a:srgbClr val="475569"/>
                </a:solidFill>
              </a:rPr>
              <a:t>Google SRE Workbook. </a:t>
            </a:r>
            <a:r>
              <a:rPr lang="en-US" sz="1500" dirty="0">
                <a:solidFill>
                  <a:srgbClr val="475569"/>
                </a:solidFill>
              </a:rPr>
              <a:t>“On-Call.”
https://sre.google/workbook/on-call/
</a:t>
            </a:r>
            <a:r>
              <a:rPr lang="en-US" sz="1500" b="1" dirty="0">
                <a:solidFill>
                  <a:srgbClr val="475569"/>
                </a:solidFill>
              </a:rPr>
              <a:t>Atlassian. </a:t>
            </a:r>
            <a:r>
              <a:rPr lang="en-US" sz="1500" dirty="0">
                <a:solidFill>
                  <a:srgbClr val="475569"/>
                </a:solidFill>
              </a:rPr>
              <a:t>“Pros and Cons of Different Approaches to On-Call Management.”
https://www.atlassian.com/incident-management/on-call
</a:t>
            </a:r>
            <a:r>
              <a:rPr lang="en-US" sz="1500" b="1" dirty="0">
                <a:solidFill>
                  <a:srgbClr val="475569"/>
                </a:solidFill>
              </a:rPr>
              <a:t>PagerDuty. </a:t>
            </a:r>
            <a:r>
              <a:rPr lang="en-US" sz="1500" dirty="0">
                <a:solidFill>
                  <a:srgbClr val="475569"/>
                </a:solidFill>
              </a:rPr>
              <a:t>“On-Call Rotations and Schedules.”
https://www.pagerduty.com/resources/incident-management-response/learn/call-rotations-schedules/
</a:t>
            </a:r>
            <a:r>
              <a:rPr lang="en-US" sz="1500" b="1" dirty="0">
                <a:solidFill>
                  <a:srgbClr val="475569"/>
                </a:solidFill>
              </a:rPr>
              <a:t>Kim, G., Humble, J., Debois, P., Willis, J., &amp; Forsgren, N. (2021). </a:t>
            </a:r>
            <a:r>
              <a:rPr lang="en-US" sz="1500" dirty="0">
                <a:solidFill>
                  <a:srgbClr val="475569"/>
                </a:solidFill>
              </a:rPr>
              <a:t>The DevOps Handbook: How to Create World-Class Agility, Reliability, &amp; Security in Technology Organizations (2nd ed.). IT Revolution. Chapter 16.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914400" y="5897880"/>
            <a:ext cx="10149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4748B"/>
                </a:solidFill>
              </a:rPr>
              <a:t>Textbook: The DevOps Handbook, Second Edition • Chapter 16: Pager Rotation Duties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473952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999</Words>
  <Application>Microsoft Office PowerPoint</Application>
  <PresentationFormat>Widescreen</PresentationFormat>
  <Paragraphs>137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Aptos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Bellevue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Pager Rotation Duties in DevOps</dc:title>
  <dc:subject>CSD380 Module 7.2 - Pager Rotation Duties</dc:subject>
  <dc:creator>Brady Heinz</dc:creator>
  <cp:lastModifiedBy>Brady Heinz</cp:lastModifiedBy>
  <cp:revision>2</cp:revision>
  <dcterms:created xsi:type="dcterms:W3CDTF">2026-09-21T02:06:30Z</dcterms:created>
  <dcterms:modified xsi:type="dcterms:W3CDTF">2026-09-21T02:11:19Z</dcterms:modified>
</cp:coreProperties>
</file>