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dy Heinz" userId="c16299ca4795e630" providerId="LiveId" clId="{B0154F08-9E15-4D76-98C3-ABB6EFFF29A6}"/>
    <pc:docChg chg="custSel modSld">
      <pc:chgData name="Brady Heinz" userId="c16299ca4795e630" providerId="LiveId" clId="{B0154F08-9E15-4D76-98C3-ABB6EFFF29A6}" dt="2026-08-17T02:20:56.240" v="0" actId="21"/>
      <pc:docMkLst>
        <pc:docMk/>
      </pc:docMkLst>
      <pc:sldChg chg="delSp mod">
        <pc:chgData name="Brady Heinz" userId="c16299ca4795e630" providerId="LiveId" clId="{B0154F08-9E15-4D76-98C3-ABB6EFFF29A6}" dt="2026-08-17T02:20:56.240" v="0" actId="21"/>
        <pc:sldMkLst>
          <pc:docMk/>
          <pc:sldMk cId="0" sldId="263"/>
        </pc:sldMkLst>
        <pc:spChg chg="del">
          <ac:chgData name="Brady Heinz" userId="c16299ca4795e630" providerId="LiveId" clId="{B0154F08-9E15-4D76-98C3-ABB6EFFF29A6}" dt="2026-08-17T02:20:56.240" v="0" actId="21"/>
          <ac:spMkLst>
            <pc:docMk/>
            <pc:sldMk cId="0" sldId="263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855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The DevOps Handbook describes the technology value stream as converting a business hypothesis into a technology-enabled service that delivers customer value.
- Source reviewed: Red Green Refactor, Book Club: The DevOps Handbook Chapter 1; FlipHTML5 excerpt of The DevOps Handbook page on deployment lead time; DORA metrics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The definition and emphasis on production value are reflected in the DevOps Handbook summaries and excerpts found online.
- DORA describes change lead time as time from code commit to successful production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The textbook distinction: lead time starts with the customer request and ends when fulfilled; process time starts only when work begins and excludes queue time.
- The DevOps Handbook emphasizes lead time because it is what the customer experiences and because reducing queue time improves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The DevOps Handbook presents a technology value stream with deployment lead time of about three months, attributed in the text to Damon Edwards, “DevOps Kaizen,” 2015.
- The stage labels and timing here are simplified for presentation clarity, based on the textbook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The textbook scenario connects long lead times with tightly-coupled monolithic applications, scarce integration test environments, long environment lead times, reliance on manual testing, and required approval processes.
- Long lead times lead to heroics because defects and integration problems are found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The DevOps ideal in The DevOps Handbook describes developers receiving fast constant feedback, independently implementing/integrating/validating code, and deploying to production.
- The Handbook says this is achieved through small changes checked into version control, automated and exploratory testing, and deployment to production.
- DORA defines change lead time as time from code commit to successful production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DevOps flow improvements commonly include visualizing work, limiting WIP, reducing batch sizes, reducing handoffs, preventing defects from moving downstream, and automating repeatable work.
- These practices target the root cause of long lead time: work waiting in queues and large batches moving through many handoffs.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Citation slide lists the sources used. Online excerpts and summaries were used because the course textbook itself was not provided in the prompt.
- The DORA source was included to connect the textbook concept of deployment lead time with current software delivery performance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6A6"/>
          </a:solidFill>
          <a:ln w="12700">
            <a:solidFill>
              <a:srgbClr val="27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0" y="228600"/>
            <a:ext cx="3840480" cy="3840480"/>
          </a:xfrm>
          <a:prstGeom prst="arc">
            <a:avLst/>
          </a:prstGeom>
          <a:noFill/>
          <a:ln w="12700">
            <a:solidFill>
              <a:srgbClr val="27A6A6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49640" y="594360"/>
            <a:ext cx="2743200" cy="2743200"/>
          </a:xfrm>
          <a:prstGeom prst="arc">
            <a:avLst/>
          </a:prstGeom>
          <a:noFill/>
          <a:ln w="12700">
            <a:solidFill>
              <a:srgbClr val="2E6F9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Technology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Stream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Research findings on flow, queues, and DevOps deployment speed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2331720" cy="393192"/>
          </a:xfrm>
          <a:prstGeom prst="roundRect">
            <a:avLst>
              <a:gd name="adj" fmla="val 18605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688" y="3803904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Lead time vs. process time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3703320"/>
            <a:ext cx="1874520" cy="393192"/>
          </a:xfrm>
          <a:prstGeom prst="roundRect">
            <a:avLst>
              <a:gd name="adj" fmla="val 18605"/>
            </a:avLst>
          </a:prstGeom>
          <a:solidFill>
            <a:srgbClr val="27A6A6"/>
          </a:solidFill>
          <a:ln w="12700">
            <a:solidFill>
              <a:srgbClr val="27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47288" y="3803904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Months → Minutes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3703320"/>
            <a:ext cx="1508760" cy="393192"/>
          </a:xfrm>
          <a:prstGeom prst="roundRect">
            <a:avLst>
              <a:gd name="adj" fmla="val 18605"/>
            </a:avLst>
          </a:prstGeom>
          <a:solidFill>
            <a:srgbClr val="5BA84A"/>
          </a:solidFill>
          <a:ln w="12700">
            <a:solidFill>
              <a:srgbClr val="5BA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04688" y="380390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Fast feedback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5870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Course assignment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6A6"/>
          </a:solidFill>
          <a:ln w="12700">
            <a:solidFill>
              <a:srgbClr val="27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the Technology Value Stream?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3504" y="752741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The end-to-end path from idea to value in production.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23B"/>
                </a:solidFill>
              </a:rPr>
              <a:t>In DevOps, the technology value stream is the process required to convert a business hypothesis into a technology-enabled service that delivers value to the customer.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834640"/>
            <a:ext cx="1600200" cy="841248"/>
          </a:xfrm>
          <a:prstGeom prst="roundRect">
            <a:avLst>
              <a:gd name="adj" fmla="val 7609"/>
            </a:avLst>
          </a:prstGeom>
          <a:solidFill>
            <a:srgbClr val="EEF5FC"/>
          </a:solidFill>
          <a:ln w="12700">
            <a:solidFill>
              <a:srgbClr val="2E6F9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2980944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</a:rPr>
              <a:t>Business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</a:rPr>
              <a:t>hypothesis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41448" y="3255264"/>
            <a:ext cx="4572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26080" y="2834640"/>
            <a:ext cx="1600200" cy="841248"/>
          </a:xfrm>
          <a:prstGeom prst="roundRect">
            <a:avLst>
              <a:gd name="adj" fmla="val 7609"/>
            </a:avLst>
          </a:prstGeom>
          <a:solidFill>
            <a:srgbClr val="ECFBF9"/>
          </a:solidFill>
          <a:ln w="12700">
            <a:solidFill>
              <a:srgbClr val="27A6A6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90672" y="2980944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</a:rPr>
              <a:t>Backlog &amp;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</a:rPr>
              <a:t>analysis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90288" y="3255264"/>
            <a:ext cx="4572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74920" y="2834640"/>
            <a:ext cx="1600200" cy="841248"/>
          </a:xfrm>
          <a:prstGeom prst="roundRect">
            <a:avLst>
              <a:gd name="adj" fmla="val 7609"/>
            </a:avLst>
          </a:prstGeom>
          <a:solidFill>
            <a:srgbClr val="EEF5FC"/>
          </a:solidFill>
          <a:ln w="12700">
            <a:solidFill>
              <a:srgbClr val="F5A623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39512" y="2980944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</a:rPr>
              <a:t>Build &amp;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</a:rPr>
              <a:t>test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39128" y="3255264"/>
            <a:ext cx="4572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23760" y="2834640"/>
            <a:ext cx="1600200" cy="841248"/>
          </a:xfrm>
          <a:prstGeom prst="roundRect">
            <a:avLst>
              <a:gd name="adj" fmla="val 7609"/>
            </a:avLst>
          </a:prstGeom>
          <a:solidFill>
            <a:srgbClr val="ECFBF9"/>
          </a:solidFill>
          <a:ln w="12700">
            <a:solidFill>
              <a:srgbClr val="5BA84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88352" y="2980944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</a:rPr>
              <a:t>Deploy to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</a:rPr>
              <a:t>production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887968" y="3255264"/>
            <a:ext cx="4572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372600" y="2834640"/>
            <a:ext cx="1600200" cy="841248"/>
          </a:xfrm>
          <a:prstGeom prst="roundRect">
            <a:avLst>
              <a:gd name="adj" fmla="val 7609"/>
            </a:avLst>
          </a:prstGeom>
          <a:solidFill>
            <a:srgbClr val="EEF5FC"/>
          </a:solidFill>
          <a:ln w="12700">
            <a:solidFill>
              <a:srgbClr val="17223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37192" y="2980944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</a:rPr>
              <a:t>Customer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</a:rPr>
              <a:t>feedback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466344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2430"/>
                </a:solidFill>
              </a:rPr>
              <a:t>Key point: value is not “done” when code is written; value is created when the service is running in production and feedback can flow back to the team.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B7280"/>
                </a:solidFill>
              </a:rPr>
              <a:t>Sources: The DevOps Handbook summaries and excerpts; DORA metrics history.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6A6"/>
          </a:solidFill>
          <a:ln w="12700">
            <a:solidFill>
              <a:srgbClr val="27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 Time vs. Processing Time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3504" y="8046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Lead time is the customer experience; processing time is the active work.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3B"/>
                </a:solidFill>
              </a:rPr>
              <a:t>Lead Time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3B"/>
                </a:solidFill>
              </a:rPr>
              <a:t>Processing Time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1691640"/>
            <a:ext cx="4114800" cy="1463040"/>
          </a:xfrm>
          <a:prstGeom prst="roundRect">
            <a:avLst>
              <a:gd name="adj" fmla="val 4375"/>
            </a:avLst>
          </a:prstGeom>
          <a:solidFill>
            <a:srgbClr val="EEF5FC"/>
          </a:solidFill>
          <a:ln w="12700">
            <a:solidFill>
              <a:srgbClr val="2E6F9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0392" y="1837944"/>
            <a:ext cx="37856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430"/>
                </a:solidFill>
              </a:rPr>
              <a:t>Clock starts when the request is made.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430"/>
                </a:solidFill>
              </a:rPr>
              <a:t>Clock stops when the request is fulfilled and usable.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691640"/>
            <a:ext cx="4114800" cy="1463040"/>
          </a:xfrm>
          <a:prstGeom prst="roundRect">
            <a:avLst>
              <a:gd name="adj" fmla="val 4375"/>
            </a:avLst>
          </a:prstGeom>
          <a:solidFill>
            <a:srgbClr val="ECFBF9"/>
          </a:solidFill>
          <a:ln w="12700">
            <a:solidFill>
              <a:srgbClr val="27A6A6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11112" y="1837944"/>
            <a:ext cx="37856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430"/>
                </a:solidFill>
              </a:rPr>
              <a:t>Clock starts only when work begins.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430"/>
                </a:solidFill>
              </a:rPr>
              <a:t>Queue/wait time is excluded.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4160520"/>
            <a:ext cx="978408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0480" y="4160520"/>
            <a:ext cx="283464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434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Request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Wait / queue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</a:rPr>
              <a:t>Active work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49840" y="4434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Fulfilled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54864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23B"/>
                </a:solidFill>
              </a:rPr>
              <a:t>Improvement focus: shorten the total line, especially by reducing queues and handoffs.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B7280"/>
                </a:solidFill>
              </a:rPr>
              <a:t>Source: The DevOps Handbook, “Lead time vs. process time” explanation.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6A6"/>
          </a:solidFill>
          <a:ln w="12700">
            <a:solidFill>
              <a:srgbClr val="27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Graphic: Common “Months” Value Stream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3504" y="8046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Most elapsed time is waiting, approvals, integration, and rework—not coding.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196596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23B"/>
                </a:solidFill>
              </a:rPr>
              <a:t>Backlog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235915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LT 2 wks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PT 1 hr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13432" y="2304288"/>
            <a:ext cx="3657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0" y="182880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33472" y="196596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23B"/>
                </a:solidFill>
              </a:rPr>
              <a:t>Design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23B"/>
                </a:solidFill>
              </a:rPr>
              <a:t>approval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33472" y="235915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LT 2 wks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PT 2 days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87952" y="2304288"/>
            <a:ext cx="3657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34840" y="182880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FF6E7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07992" y="196596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23B"/>
                </a:solidFill>
              </a:rPr>
              <a:t>Dev + 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23B"/>
                </a:solidFill>
              </a:rPr>
              <a:t>automation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07992" y="235915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LT 4 wks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PT 4 days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62472" y="2304288"/>
            <a:ext cx="3657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82512" y="196596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23B"/>
                </a:solidFill>
              </a:rPr>
              <a:t>Integration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23B"/>
                </a:solidFill>
              </a:rPr>
              <a:t>test env.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82512" y="235915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LT 3 wks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PT 1 day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36992" y="2304288"/>
            <a:ext cx="3657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83880" y="182880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57032" y="196596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23B"/>
                </a:solidFill>
              </a:rPr>
              <a:t>Change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23B"/>
                </a:solidFill>
              </a:rPr>
              <a:t>approval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57032" y="235915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LT 1 wk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PT 1 hr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811512" y="2304288"/>
            <a:ext cx="3657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058400" y="182880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131552" y="196596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23B"/>
                </a:solidFill>
              </a:rPr>
              <a:t>Release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131552" y="235915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LT 1 wk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PT 2 hrs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41248" y="3886200"/>
            <a:ext cx="10241280" cy="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31920" y="4160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64545"/>
                </a:solidFill>
              </a:rPr>
              <a:t>≈ 3 months deployment lead time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697480" y="5074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430"/>
                </a:solidFill>
              </a:rPr>
              <a:t>Small active work pockets are hidden inside long queues.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B7280"/>
                </a:solidFill>
              </a:rPr>
              <a:t>Graphic based on The DevOps Handbook example of a three-month technology value stream.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6A6"/>
          </a:solidFill>
          <a:ln w="12700">
            <a:solidFill>
              <a:srgbClr val="27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Common Scenario: Deployment Lead Times Requiring Months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96874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Why “business as usual” slows delivery and increases risk.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6F9E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29844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</a:rPr>
              <a:t>Tightly coupled systems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61848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430"/>
                </a:solidFill>
              </a:rPr>
              <a:t>Monolithic or highly dependent architecture makes small changes hard to isolate.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6A6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3500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</a:rPr>
              <a:t>Scarce environments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67004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430"/>
                </a:solidFill>
              </a:rPr>
              <a:t>Teams wait for production-like test environments or shared integration windows.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40156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</a:rPr>
              <a:t>Manual controls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72160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430"/>
                </a:solidFill>
              </a:rPr>
              <a:t>Manual testing and multiple approvals add queues and handoffs.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4545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44531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</a:rPr>
              <a:t>Late integration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77316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430"/>
                </a:solidFill>
              </a:rPr>
              <a:t>Problems surface near the end, causing heroics, rework, and fragile releases.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417320" y="5623560"/>
            <a:ext cx="8915400" cy="502920"/>
          </a:xfrm>
          <a:prstGeom prst="roundRect">
            <a:avLst>
              <a:gd name="adj" fmla="val 12727"/>
            </a:avLst>
          </a:prstGeom>
          <a:solidFill>
            <a:srgbClr val="FFF6F4"/>
          </a:solidFill>
          <a:ln w="12700">
            <a:solidFill>
              <a:srgbClr val="D64545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581912" y="5769864"/>
            <a:ext cx="8586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</a:rPr>
              <a:t>Result: the team spends energy managing delays instead of learning from real users.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B7280"/>
                </a:solidFill>
              </a:rPr>
              <a:t>Source: The DevOps Handbook excerpt on common three-month deployment lead times.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6A6"/>
          </a:solidFill>
          <a:ln w="12700">
            <a:solidFill>
              <a:srgbClr val="27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DevOps Ideal: Deployment Lead Times of Minutes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3504" y="8046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Fast, reliable flow from commit to production.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1645920" cy="914400"/>
          </a:xfrm>
          <a:prstGeom prst="chevron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215798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Small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change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920240"/>
            <a:ext cx="1645920" cy="914400"/>
          </a:xfrm>
          <a:prstGeom prst="chevron">
            <a:avLst/>
          </a:prstGeom>
          <a:solidFill>
            <a:srgbClr val="27A6A6"/>
          </a:solidFill>
          <a:ln w="12700">
            <a:solidFill>
              <a:srgbClr val="27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16352" y="21579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Version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control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1645920" cy="914400"/>
          </a:xfrm>
          <a:prstGeom prst="chevron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9432" y="21579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Automated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920240"/>
            <a:ext cx="1645920" cy="914400"/>
          </a:xfrm>
          <a:prstGeom prst="chevron">
            <a:avLst/>
          </a:prstGeom>
          <a:solidFill>
            <a:srgbClr val="5BA84A"/>
          </a:solidFill>
          <a:ln w="12700">
            <a:solidFill>
              <a:srgbClr val="5BA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21579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Deploy to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09560" y="1920240"/>
            <a:ext cx="1645920" cy="914400"/>
          </a:xfrm>
          <a:prstGeom prst="chevron">
            <a:avLst/>
          </a:prstGeom>
          <a:solidFill>
            <a:srgbClr val="17223B"/>
          </a:solidFill>
          <a:ln w="12700">
            <a:solidFill>
              <a:srgbClr val="1722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65592" y="21579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Telemetry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feedback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3657600"/>
            <a:ext cx="4754880" cy="1600200"/>
          </a:xfrm>
          <a:prstGeom prst="roundRect">
            <a:avLst>
              <a:gd name="adj" fmla="val 4000"/>
            </a:avLst>
          </a:prstGeom>
          <a:solidFill>
            <a:srgbClr val="EEF5FC"/>
          </a:solidFill>
          <a:ln w="12700">
            <a:solidFill>
              <a:srgbClr val="2E6F9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78992" y="3803904"/>
            <a:ext cx="442569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</a:rPr>
              <a:t>Why it works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</a:rPr>
              <a:t>• Developers get constant feedback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</a:rPr>
              <a:t>• Changes are small and easier to test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</a:rPr>
              <a:t>• Automation reduces waiting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</a:rPr>
              <a:t>• Modular architecture limits blast radius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46520" y="3657600"/>
            <a:ext cx="4389120" cy="1600200"/>
          </a:xfrm>
          <a:prstGeom prst="roundRect">
            <a:avLst>
              <a:gd name="adj" fmla="val 4000"/>
            </a:avLst>
          </a:prstGeom>
          <a:solidFill>
            <a:srgbClr val="ECFBF9"/>
          </a:solidFill>
          <a:ln w="12700">
            <a:solidFill>
              <a:srgbClr val="27A6A6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11112" y="3803904"/>
            <a:ext cx="405993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223B"/>
                </a:solidFill>
              </a:rPr>
              <a:t>Target condition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223B"/>
                </a:solidFill>
              </a:rPr>
              <a:t>Deployment lead time is measured in minutes—or, in the worst case, hours.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B7280"/>
                </a:solidFill>
              </a:rPr>
              <a:t>Sources: The DevOps Handbook excerpt; DORA change lead time definition.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6A6"/>
          </a:solidFill>
          <a:ln w="12700">
            <a:solidFill>
              <a:srgbClr val="27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Teams Move from Months to Minutes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3504" y="8046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DevOps improvement is mostly about flow.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384048" cy="384048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17320" y="13075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3B"/>
                </a:solidFill>
              </a:rPr>
              <a:t>Make work visible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1307592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430"/>
                </a:solidFill>
              </a:rPr>
              <a:t>Map the value stream and show queues, approvals, and rework.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384048" cy="384048"/>
          </a:xfrm>
          <a:prstGeom prst="ellipse">
            <a:avLst/>
          </a:prstGeom>
          <a:solidFill>
            <a:srgbClr val="27A6A6"/>
          </a:solidFill>
          <a:ln w="12700">
            <a:solidFill>
              <a:srgbClr val="27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17320" y="23134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3B"/>
                </a:solidFill>
              </a:rPr>
              <a:t>Limit WIP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313432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430"/>
                </a:solidFill>
              </a:rPr>
              <a:t>Stop starting too much work; finish smaller pieces sooner.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33756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17320" y="33192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3B"/>
                </a:solidFill>
              </a:rPr>
              <a:t>Reduce batch size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3319272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430"/>
                </a:solidFill>
              </a:rPr>
              <a:t>Ship smaller code changes through the pipeline more often.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343400"/>
            <a:ext cx="384048" cy="384048"/>
          </a:xfrm>
          <a:prstGeom prst="ellipse">
            <a:avLst/>
          </a:prstGeom>
          <a:solidFill>
            <a:srgbClr val="5BA84A"/>
          </a:solidFill>
          <a:ln w="12700">
            <a:solidFill>
              <a:srgbClr val="5BA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17320" y="4325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3B"/>
                </a:solidFill>
              </a:rPr>
              <a:t>Automate quality gates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6280" y="4325112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430"/>
                </a:solidFill>
              </a:rPr>
              <a:t>Use CI, automated tests, security checks, and deployment pipelines.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349240"/>
            <a:ext cx="384048" cy="384048"/>
          </a:xfrm>
          <a:prstGeom prst="ellipse">
            <a:avLst/>
          </a:prstGeom>
          <a:solidFill>
            <a:srgbClr val="17223B"/>
          </a:solidFill>
          <a:ln w="12700">
            <a:solidFill>
              <a:srgbClr val="1722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17320" y="53309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3B"/>
                </a:solidFill>
              </a:rPr>
              <a:t>Architect for autonomy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26280" y="5330952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430"/>
                </a:solidFill>
              </a:rPr>
              <a:t>Loose coupling lets teams change one service without global disruption.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B7280"/>
                </a:solidFill>
              </a:rPr>
              <a:t>Sources: The DevOps Handbook and continuous delivery/value stream summaries.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6A6"/>
          </a:solidFill>
          <a:ln w="12700">
            <a:solidFill>
              <a:srgbClr val="27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2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 &amp; Sources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3504" y="8046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The practical lesson: optimize for total lead time and rapid feedback.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5074920" cy="685800"/>
          </a:xfrm>
          <a:prstGeom prst="roundRect">
            <a:avLst>
              <a:gd name="adj" fmla="val 9333"/>
            </a:avLst>
          </a:prstGeom>
          <a:solidFill>
            <a:srgbClr val="EEF5FC"/>
          </a:solidFill>
          <a:ln w="12700">
            <a:solidFill>
              <a:srgbClr val="2E6F9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380744"/>
            <a:ext cx="4745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</a:rPr>
              <a:t>1. Lead time is what the customer experiences; processing time is only active work.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8EA"/>
          </a:solidFill>
          <a:ln w="12700">
            <a:solidFill>
              <a:srgbClr val="F5A623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2295144"/>
            <a:ext cx="47457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</a:rPr>
              <a:t>2. Month-long deployment lead time usually comes from queues: approvals, environments, manual tests, and late integration.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ECFBF9"/>
          </a:solidFill>
          <a:ln w="12700">
            <a:solidFill>
              <a:srgbClr val="27A6A6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41832" y="3438144"/>
            <a:ext cx="47457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</a:rPr>
              <a:t>3. The DevOps ideal uses small changes, automation, and modular architecture to reach minutes or hours.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23B"/>
                </a:solidFill>
              </a:rPr>
              <a:t>Citations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1700784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E2430"/>
                </a:solidFill>
              </a:rPr>
              <a:t>1. Kim, Humble, Debois &amp; Willis, The DevOps Handbook, sections on Technology Value Stream, lead time vs. process time, and deployment lead times.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430"/>
                </a:solidFill>
              </a:rPr>
              <a:t>2. Red Green Refactor, “Book Club: The DevOps Handbook (Chapter 1),” summary of textbook concepts.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430"/>
                </a:solidFill>
              </a:rPr>
              <a:t>3. FlipHTML5 excerpt of The DevOps Handbook page describing the common three-month scenario and DevOps ideal.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430"/>
                </a:solidFill>
              </a:rPr>
              <a:t>4. DORA, “A history of DORA’s software delivery metrics,” for modern change lead time framing.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1258</Words>
  <Application>Microsoft Office PowerPoint</Application>
  <PresentationFormat>Widescreen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Mid-Plains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Technology Value Stream</dc:title>
  <dc:subject>The Technology Value Stream</dc:subject>
  <dc:creator>OpenAI</dc:creator>
  <cp:lastModifiedBy>Brady Heinz</cp:lastModifiedBy>
  <cp:revision>2</cp:revision>
  <dcterms:created xsi:type="dcterms:W3CDTF">2026-08-13T00:45:40Z</dcterms:created>
  <dcterms:modified xsi:type="dcterms:W3CDTF">2026-08-17T02:21:02Z</dcterms:modified>
</cp:coreProperties>
</file>