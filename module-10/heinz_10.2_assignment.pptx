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0" autoAdjust="0"/>
    <p:restoredTop sz="96247" autoAdjust="0"/>
  </p:normalViewPr>
  <p:slideViewPr>
    <p:cSldViewPr snapToGrid="0" snapToObjects="1">
      <p:cViewPr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2384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647395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20" dirty="0">
                <a:solidFill>
                  <a:srgbClr val="789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SOFTWARE DEVELOPMENT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287000" y="647395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89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Brady Heinz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0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0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777240"/>
            <a:ext cx="3794760" cy="3794760"/>
          </a:xfrm>
          <a:prstGeom prst="ellipse">
            <a:avLst/>
          </a:prstGeom>
          <a:solidFill>
            <a:srgbClr val="0B2235">
              <a:alpha val="95000"/>
            </a:srgbClr>
          </a:solidFill>
          <a:ln w="25400">
            <a:solidFill>
              <a:srgbClr val="20C99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05088" y="1572768"/>
            <a:ext cx="2011680" cy="2331720"/>
          </a:xfrm>
          <a:prstGeom prst="hexagon">
            <a:avLst/>
          </a:prstGeom>
          <a:solidFill>
            <a:srgbClr val="11263A"/>
          </a:solidFill>
          <a:ln w="25400">
            <a:solidFill>
              <a:srgbClr val="20C997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034272" y="1938528"/>
            <a:ext cx="1325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🔒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20" dirty="0">
                <a:solidFill>
                  <a:srgbClr val="20C997"/>
                </a:solidFill>
              </a:rPr>
              <a:t>SECURITY CONTROLS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6492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3F7FA"/>
                </a:solidFill>
              </a:rPr>
              <a:t>Shared Source Code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3F7FA"/>
                </a:solidFill>
              </a:rPr>
              <a:t>Repositories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13232" y="3154680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9BBCB"/>
                </a:solidFill>
              </a:rPr>
              <a:t>Best practices for protecting access, code changes, secrets, dependencies, and the software supply chain.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3232" y="50749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95A8"/>
                </a:solidFill>
              </a:rPr>
              <a:t>Brady Heinz  •  Module 8.2 Assignment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0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0C997"/>
                </a:solidFill>
              </a:rPr>
              <a:t>WHY IT MATTERS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83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7FA"/>
                </a:solidFill>
              </a:rPr>
              <a:t>Shared repositories expand the attack surface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99032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BCB"/>
                </a:solidFill>
              </a:rPr>
              <a:t>A repository is more than code—it is identities, history, automation, dependencies, and release pathways.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0D1B2A"/>
          </a:solidFill>
          <a:ln w="12700">
            <a:solidFill>
              <a:srgbClr val="24445F"/>
            </a:solidFill>
            <a:prstDash val="solid"/>
          </a:ln>
          <a:effectLst>
            <a:outerShdw blurRad="322580000" dist="161290000"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64008" cy="32461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1832" y="22860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F7FA"/>
                </a:solidFill>
              </a:rPr>
              <a:t>Unauthorized access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41832" y="2770632"/>
            <a:ext cx="292608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9BBCB"/>
                </a:solidFill>
              </a:rPr>
              <a:t>Compromised accounts can expose private code, alter settings, or inject malicious changes.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07408" y="205740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0D1B2A"/>
          </a:solidFill>
          <a:ln w="12700">
            <a:solidFill>
              <a:srgbClr val="24445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07408" y="2057400"/>
            <a:ext cx="64008" cy="3246120"/>
          </a:xfrm>
          <a:prstGeom prst="rect">
            <a:avLst/>
          </a:prstGeom>
          <a:solidFill>
            <a:srgbClr val="F6C85F"/>
          </a:solidFill>
          <a:ln w="12700">
            <a:solidFill>
              <a:srgbClr val="F6C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22860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F7FA"/>
                </a:solidFill>
              </a:rPr>
              <a:t>Credential leakage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63440" y="2770632"/>
            <a:ext cx="292608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9BBCB"/>
                </a:solidFill>
              </a:rPr>
              <a:t>API keys, tokens, passwords, and certificates can be accidentally committed and remain in Git history.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29016" y="205740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0D1B2A"/>
          </a:solidFill>
          <a:ln w="12700">
            <a:solidFill>
              <a:srgbClr val="24445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29016" y="2057400"/>
            <a:ext cx="64008" cy="3246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85048" y="22860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F7FA"/>
                </a:solidFill>
              </a:rPr>
              <a:t>Supply-chain risk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85048" y="2770632"/>
            <a:ext cx="292608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9BBCB"/>
                </a:solidFill>
              </a:rPr>
              <a:t>Vulnerable dependencies or compromised build workflows can affect every downstream user of the software.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" y="6144768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i="1" dirty="0">
                <a:solidFill>
                  <a:srgbClr val="6F879C"/>
                </a:solidFill>
              </a:rPr>
              <a:t>Sources: NIST SSDF; GitHub Code Security; OWASP CI/CD Security Cheat Sheet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0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0C997"/>
                </a:solidFill>
              </a:rPr>
              <a:t>CONTROL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83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7FA"/>
                </a:solidFill>
              </a:rPr>
              <a:t>Lock down identity and repository access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99032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BCB"/>
                </a:solidFill>
              </a:rPr>
              <a:t>Use strong authentication and least privilege so contributors have only the access they actually need.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9933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C997"/>
                </a:solidFill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19751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F7FA"/>
                </a:solidFill>
              </a:rPr>
              <a:t>Require MFA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474720" y="1984248"/>
            <a:ext cx="7516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BCB"/>
                </a:solidFill>
              </a:rPr>
              <a:t>Require multi-factor authentication for repository and organization accounts.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417320" y="2615184"/>
            <a:ext cx="9555480" cy="0"/>
          </a:xfrm>
          <a:prstGeom prst="line">
            <a:avLst/>
          </a:prstGeom>
          <a:noFill/>
          <a:ln w="1270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9535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C997"/>
                </a:solidFill>
              </a:rPr>
              <a:t>02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29352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F7FA"/>
                </a:solidFill>
              </a:rPr>
              <a:t>Least privilege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74720" y="2944368"/>
            <a:ext cx="7516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BCB"/>
                </a:solidFill>
              </a:rPr>
              <a:t>Grant read, triage, write, maintain, or admin rights based on job responsibilities.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417320" y="3575304"/>
            <a:ext cx="9555480" cy="0"/>
          </a:xfrm>
          <a:prstGeom prst="line">
            <a:avLst/>
          </a:prstGeom>
          <a:noFill/>
          <a:ln w="1270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9136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C997"/>
                </a:solidFill>
              </a:rPr>
              <a:t>03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38953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F7FA"/>
                </a:solidFill>
              </a:rPr>
              <a:t>Prefer teams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74720" y="3904488"/>
            <a:ext cx="7516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BCB"/>
                </a:solidFill>
              </a:rPr>
              <a:t>Manage access through groups/teams instead of one-off permissions whenever possible.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417320" y="4535424"/>
            <a:ext cx="9555480" cy="0"/>
          </a:xfrm>
          <a:prstGeom prst="line">
            <a:avLst/>
          </a:prstGeom>
          <a:noFill/>
          <a:ln w="1270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48737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C997"/>
                </a:solidFill>
              </a:rPr>
              <a:t>04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17320" y="48554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F7FA"/>
                </a:solidFill>
              </a:rPr>
              <a:t>Review access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474720" y="4864608"/>
            <a:ext cx="7516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BCB"/>
                </a:solidFill>
              </a:rPr>
              <a:t>Regularly remove inactive users, stale collaborators, old deploy keys, and unnecessary tokens.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417320" y="5495544"/>
            <a:ext cx="9555480" cy="0"/>
          </a:xfrm>
          <a:prstGeom prst="line">
            <a:avLst/>
          </a:prstGeom>
          <a:noFill/>
          <a:ln w="12700">
            <a:solidFill>
              <a:srgbClr val="2444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" y="6144768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i="1" dirty="0">
                <a:solidFill>
                  <a:srgbClr val="6F879C"/>
                </a:solidFill>
              </a:rPr>
              <a:t>Sources: NIST SSDF (protect software and development environments); GitHub repository security guidance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0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0C997"/>
                </a:solidFill>
              </a:rPr>
              <a:t>CONTROL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83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7FA"/>
                </a:solidFill>
              </a:rPr>
              <a:t>Protect important branches and require review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99032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BCB"/>
                </a:solidFill>
              </a:rPr>
              <a:t>Make the secure path the normal path: changes should flow through pull requests, checks, and approvals.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3749040"/>
            <a:ext cx="9784080" cy="0"/>
          </a:xfrm>
          <a:prstGeom prst="line">
            <a:avLst/>
          </a:prstGeom>
          <a:noFill/>
          <a:ln w="50800">
            <a:solidFill>
              <a:srgbClr val="24445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08760" y="3246120"/>
            <a:ext cx="658368" cy="658368"/>
          </a:xfrm>
          <a:prstGeom prst="ellipse">
            <a:avLst/>
          </a:prstGeom>
          <a:solidFill>
            <a:srgbClr val="11263A"/>
          </a:solidFill>
          <a:ln w="254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08760" y="3392424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7FA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7FA"/>
                </a:solidFill>
              </a:rPr>
              <a:t>Feature branch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4224528"/>
            <a:ext cx="20116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A9BBCB"/>
                </a:solidFill>
              </a:rPr>
              <a:t>Developer works without directly changing production code.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3246120"/>
            <a:ext cx="658368" cy="658368"/>
          </a:xfrm>
          <a:prstGeom prst="ellipse">
            <a:avLst/>
          </a:prstGeom>
          <a:solidFill>
            <a:srgbClr val="11263A"/>
          </a:solidFill>
          <a:ln w="254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97680" y="3392424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7FA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7FA"/>
                </a:solidFill>
              </a:rPr>
              <a:t>Pull request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11880" y="4224528"/>
            <a:ext cx="20116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A9BBCB"/>
                </a:solidFill>
              </a:rPr>
              <a:t>Change becomes visible for review and automated checks.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086600" y="3246120"/>
            <a:ext cx="658368" cy="658368"/>
          </a:xfrm>
          <a:prstGeom prst="ellipse">
            <a:avLst/>
          </a:prstGeom>
          <a:solidFill>
            <a:srgbClr val="11263A"/>
          </a:solidFill>
          <a:ln w="254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86600" y="3392424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7FA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7FA"/>
                </a:solidFill>
              </a:rPr>
              <a:t>Review + checks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0" y="4224528"/>
            <a:ext cx="20116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A9BBCB"/>
                </a:solidFill>
              </a:rPr>
              <a:t>Require approvals, tests, scanning, and resolved conversations.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875520" y="3246120"/>
            <a:ext cx="658368" cy="658368"/>
          </a:xfrm>
          <a:prstGeom prst="ellipse">
            <a:avLst/>
          </a:prstGeom>
          <a:solidFill>
            <a:srgbClr val="20C997"/>
          </a:solidFill>
          <a:ln w="254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875520" y="3392424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7FA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8972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7FA"/>
                </a:solidFill>
              </a:rPr>
              <a:t>Protected merge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189720" y="4224528"/>
            <a:ext cx="20116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A9BBCB"/>
                </a:solidFill>
              </a:rPr>
              <a:t>Only compliant changes reach the default/release branch.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8368" y="6144768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i="1" dirty="0">
                <a:solidFill>
                  <a:srgbClr val="6F879C"/>
                </a:solidFill>
              </a:rPr>
              <a:t>Source: GitHub recommends pull-request review and protected branches to control review and merge processes.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0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0C997"/>
                </a:solidFill>
              </a:rPr>
              <a:t>CONTROL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83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7FA"/>
                </a:solidFill>
              </a:rPr>
              <a:t>Keep secrets out of source code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99032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BCB"/>
                </a:solidFill>
              </a:rPr>
              <a:t>Treat credentials as short-lived, separately managed data—not as code or configuration committed to Git.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3337560" cy="3383280"/>
          </a:xfrm>
          <a:prstGeom prst="roundRect">
            <a:avLst>
              <a:gd name="adj" fmla="val 2192"/>
            </a:avLst>
          </a:prstGeom>
          <a:solidFill>
            <a:srgbClr val="0D1B2A"/>
          </a:solidFill>
          <a:ln w="12700">
            <a:solidFill>
              <a:srgbClr val="24445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64008" cy="3383280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1832" y="224028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F7FA"/>
                </a:solidFill>
              </a:rPr>
              <a:t>Prevent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41832" y="2724912"/>
            <a:ext cx="288036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9BBCB"/>
                </a:solidFill>
              </a:rPr>
              <a:t>Use push protection or pre-commit scanning to block credentials before they enter repository history.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25696" y="2011680"/>
            <a:ext cx="3337560" cy="3383280"/>
          </a:xfrm>
          <a:prstGeom prst="roundRect">
            <a:avLst>
              <a:gd name="adj" fmla="val 2192"/>
            </a:avLst>
          </a:prstGeom>
          <a:solidFill>
            <a:srgbClr val="0D1B2A"/>
          </a:solidFill>
          <a:ln w="12700">
            <a:solidFill>
              <a:srgbClr val="24445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25696" y="2011680"/>
            <a:ext cx="64008" cy="3383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81728" y="224028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F7FA"/>
                </a:solidFill>
              </a:rPr>
              <a:t>Detect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81728" y="2724912"/>
            <a:ext cx="288036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9BBCB"/>
                </a:solidFill>
              </a:rPr>
              <a:t>Enable secret scanning across branches and history. Create custom patterns for internal credential formats.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65592" y="2011680"/>
            <a:ext cx="3337560" cy="3383280"/>
          </a:xfrm>
          <a:prstGeom prst="roundRect">
            <a:avLst>
              <a:gd name="adj" fmla="val 2192"/>
            </a:avLst>
          </a:prstGeom>
          <a:solidFill>
            <a:srgbClr val="0D1B2A"/>
          </a:solidFill>
          <a:ln w="12700">
            <a:solidFill>
              <a:srgbClr val="24445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65592" y="2011680"/>
            <a:ext cx="64008" cy="33832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21624" y="224028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F7FA"/>
                </a:solidFill>
              </a:rPr>
              <a:t>Respond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21624" y="2724912"/>
            <a:ext cx="288036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9BBCB"/>
                </a:solidFill>
              </a:rPr>
              <a:t>If a secret is exposed, revoke or rotate it immediately, investigate use, then remove it from code/history as appropriate.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" y="6144768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i="1" dirty="0">
                <a:solidFill>
                  <a:srgbClr val="6F879C"/>
                </a:solidFill>
              </a:rPr>
              <a:t>Sources: GitHub Secret Scanning / Push Protection; OWASP CI/CD Security Cheat Sheet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0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0C997"/>
                </a:solidFill>
              </a:rPr>
              <a:t>CONTROLS 4–5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83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7FA"/>
                </a:solidFill>
              </a:rPr>
              <a:t>Scan code and secure third-party dependencies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99032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BCB"/>
                </a:solidFill>
              </a:rPr>
              <a:t>Automated checks catch common problems early; human review adds context that scanners cannot fully understand.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993392"/>
            <a:ext cx="5212080" cy="3429000"/>
          </a:xfrm>
          <a:prstGeom prst="roundRect">
            <a:avLst>
              <a:gd name="adj" fmla="val 2133"/>
            </a:avLst>
          </a:prstGeom>
          <a:solidFill>
            <a:srgbClr val="0D1B2A"/>
          </a:solidFill>
          <a:ln w="12700">
            <a:solidFill>
              <a:srgbClr val="24445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3232" y="1993392"/>
            <a:ext cx="64008" cy="3429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9264" y="222199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F7FA"/>
                </a:solidFill>
              </a:rPr>
              <a:t>Code scanning (SAST)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9264" y="2706624"/>
            <a:ext cx="475488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50" dirty="0">
                <a:solidFill>
                  <a:srgbClr val="A9BBCB"/>
                </a:solidFill>
              </a:rPr>
              <a:t>• Scan new or modified code for vulnerable patterns</a:t>
            </a:r>
            <a:endParaRPr lang="en-US" sz="1250" dirty="0"/>
          </a:p>
          <a:p>
            <a:r>
              <a:rPr lang="en-US" sz="1250" dirty="0">
                <a:solidFill>
                  <a:srgbClr val="A9BBCB"/>
                </a:solidFill>
              </a:rPr>
              <a:t>• Run checks in pull requests before merge</a:t>
            </a:r>
            <a:endParaRPr lang="en-US" sz="1250" dirty="0"/>
          </a:p>
          <a:p>
            <a:r>
              <a:rPr lang="en-US" sz="1250" dirty="0">
                <a:solidFill>
                  <a:srgbClr val="A9BBCB"/>
                </a:solidFill>
              </a:rPr>
              <a:t>• Triage findings and fix high-impact issues promptly</a:t>
            </a:r>
            <a:endParaRPr lang="en-US" sz="1250" dirty="0"/>
          </a:p>
          <a:p>
            <a:r>
              <a:rPr lang="en-US" sz="1250" dirty="0">
                <a:solidFill>
                  <a:srgbClr val="A9BBCB"/>
                </a:solidFill>
              </a:rPr>
              <a:t>• Pair automation with security-focused human review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993392"/>
            <a:ext cx="5212080" cy="3429000"/>
          </a:xfrm>
          <a:prstGeom prst="roundRect">
            <a:avLst>
              <a:gd name="adj" fmla="val 2133"/>
            </a:avLst>
          </a:prstGeom>
          <a:solidFill>
            <a:srgbClr val="0D1B2A"/>
          </a:solidFill>
          <a:ln w="12700">
            <a:solidFill>
              <a:srgbClr val="24445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63640" y="1993392"/>
            <a:ext cx="64008" cy="3429000"/>
          </a:xfrm>
          <a:prstGeom prst="rect">
            <a:avLst/>
          </a:prstGeom>
          <a:solidFill>
            <a:srgbClr val="F6C85F"/>
          </a:solidFill>
          <a:ln w="12700">
            <a:solidFill>
              <a:srgbClr val="F6C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19672" y="222199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F7FA"/>
                </a:solidFill>
              </a:rPr>
              <a:t>Dependency security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19672" y="2706624"/>
            <a:ext cx="475488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50" dirty="0">
                <a:solidFill>
                  <a:srgbClr val="A9BBCB"/>
                </a:solidFill>
              </a:rPr>
              <a:t>• Maintain an inventory / dependency graph</a:t>
            </a:r>
            <a:endParaRPr lang="en-US" sz="1250" dirty="0"/>
          </a:p>
          <a:p>
            <a:r>
              <a:rPr lang="en-US" sz="1250" dirty="0">
                <a:solidFill>
                  <a:srgbClr val="A9BBCB"/>
                </a:solidFill>
              </a:rPr>
              <a:t>• Alert on known vulnerable packages</a:t>
            </a:r>
            <a:endParaRPr lang="en-US" sz="1250" dirty="0"/>
          </a:p>
          <a:p>
            <a:r>
              <a:rPr lang="en-US" sz="1250" dirty="0">
                <a:solidFill>
                  <a:srgbClr val="A9BBCB"/>
                </a:solidFill>
              </a:rPr>
              <a:t>• Review dependency changes in pull requests</a:t>
            </a:r>
            <a:endParaRPr lang="en-US" sz="1250" dirty="0"/>
          </a:p>
          <a:p>
            <a:r>
              <a:rPr lang="en-US" sz="1250" dirty="0">
                <a:solidFill>
                  <a:srgbClr val="A9BBCB"/>
                </a:solidFill>
              </a:rPr>
              <a:t>• Update or replace vulnerable components</a:t>
            </a:r>
            <a:endParaRPr lang="en-US" sz="1250" dirty="0"/>
          </a:p>
          <a:p>
            <a:r>
              <a:rPr lang="en-US" sz="1250" dirty="0">
                <a:solidFill>
                  <a:srgbClr val="A9BBCB"/>
                </a:solidFill>
              </a:rPr>
              <a:t>• Generate an SBOM when useful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" y="6144768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i="1" dirty="0">
                <a:solidFill>
                  <a:srgbClr val="6F879C"/>
                </a:solidFill>
              </a:rPr>
              <a:t>Sources: GitHub Code Security &amp; Dependency Review; OWASP Secure Code Review; NIST SSDF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0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0C997"/>
                </a:solidFill>
              </a:rPr>
              <a:t>CONTROL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83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7FA"/>
                </a:solidFill>
              </a:rPr>
              <a:t>Harden CI/CD workflows and repository automation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99032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BCB"/>
                </a:solidFill>
              </a:rPr>
              <a:t>Automation often has privileged credentials and deployment access, so workflow files deserve the same protection as application code.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3246120" cy="132588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24445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7FA"/>
                </a:solidFill>
              </a:rPr>
              <a:t>Pin &amp; review actions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9BBCB"/>
                </a:solidFill>
              </a:rPr>
              <a:t>Use trusted actions/tools and review changes to workflow dependencies.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480560" y="2057400"/>
            <a:ext cx="3246120" cy="132588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24445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3440" y="22402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7FA"/>
                </a:solidFill>
              </a:rPr>
              <a:t>Minimize token permissions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63440" y="2651760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9BBCB"/>
                </a:solidFill>
              </a:rPr>
              <a:t>Give workflow tokens only the scopes required for each job.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8229600" y="2057400"/>
            <a:ext cx="3246120" cy="132588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24445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12480" y="22402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7FA"/>
                </a:solidFill>
              </a:rPr>
              <a:t>Protect environments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12480" y="2651760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9BBCB"/>
                </a:solidFill>
              </a:rPr>
              <a:t>Require approvals or controls before sensitive deployments.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2606040" y="3977640"/>
            <a:ext cx="3246120" cy="132588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24445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88920" y="41605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7FA"/>
                </a:solidFill>
              </a:rPr>
              <a:t>Separate secrets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88920" y="4572000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9BBCB"/>
                </a:solidFill>
              </a:rPr>
              <a:t>Use repository/environment secret stores; never print secrets to logs.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355080" y="3977640"/>
            <a:ext cx="3246120" cy="132588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24445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37960" y="41605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7FA"/>
                </a:solidFill>
              </a:rPr>
              <a:t>Verify artifacts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37960" y="4572000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9BBCB"/>
                </a:solidFill>
              </a:rPr>
              <a:t>Use provenance/attestations or signing where appropriate to strengthen integrity.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658368" y="6144768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i="1" dirty="0">
                <a:solidFill>
                  <a:srgbClr val="6F879C"/>
                </a:solidFill>
              </a:rPr>
              <a:t>Sources: OWASP CI/CD Security; GitHub supply-chain and artifact attestation guidance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0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0C997"/>
                </a:solidFill>
              </a:rPr>
              <a:t>PUTTING IT TOGETHER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83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7FA"/>
                </a:solidFill>
              </a:rPr>
              <a:t>A practical repository security baseline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99032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BCB"/>
                </a:solidFill>
              </a:rPr>
              <a:t>Layer controls so one mistake does not become a compromise.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0120" y="1901952"/>
            <a:ext cx="10241280" cy="475488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1A354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2020824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C997"/>
                </a:solidFill>
              </a:rPr>
              <a:t>Identity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88920" y="2020824"/>
            <a:ext cx="7955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7FA"/>
                </a:solidFill>
              </a:rPr>
              <a:t>MFA + least privilege + access reviews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0120" y="2523744"/>
            <a:ext cx="10241280" cy="475488"/>
          </a:xfrm>
          <a:prstGeom prst="roundRect">
            <a:avLst/>
          </a:prstGeom>
          <a:solidFill>
            <a:srgbClr val="11263A"/>
          </a:solidFill>
          <a:ln w="12700">
            <a:solidFill>
              <a:srgbClr val="1A354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88720" y="2642616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C997"/>
                </a:solidFill>
              </a:rPr>
              <a:t>Changes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2642616"/>
            <a:ext cx="7955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7FA"/>
                </a:solidFill>
              </a:rPr>
              <a:t>Protected branches + pull requests + required approvals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0120" y="3145536"/>
            <a:ext cx="10241280" cy="475488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1A354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88720" y="3264408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C997"/>
                </a:solidFill>
              </a:rPr>
              <a:t>Secrets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88920" y="3264408"/>
            <a:ext cx="7955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7FA"/>
                </a:solidFill>
              </a:rPr>
              <a:t>Push protection + secret scanning + rotation process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" y="3767328"/>
            <a:ext cx="10241280" cy="475488"/>
          </a:xfrm>
          <a:prstGeom prst="roundRect">
            <a:avLst/>
          </a:prstGeom>
          <a:solidFill>
            <a:srgbClr val="11263A"/>
          </a:solidFill>
          <a:ln w="12700">
            <a:solidFill>
              <a:srgbClr val="1A354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88720" y="388620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C997"/>
                </a:solidFill>
              </a:rPr>
              <a:t>Code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88920" y="3886200"/>
            <a:ext cx="7955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7FA"/>
                </a:solidFill>
              </a:rPr>
              <a:t>SAST/code scanning + human secure review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60120" y="4389120"/>
            <a:ext cx="10241280" cy="475488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1A354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88720" y="4507992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C997"/>
                </a:solidFill>
              </a:rPr>
              <a:t>Dependencies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88920" y="4507992"/>
            <a:ext cx="7955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7FA"/>
                </a:solidFill>
              </a:rPr>
              <a:t>Alerts + dependency review + SBOM/inventory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0120" y="5010912"/>
            <a:ext cx="10241280" cy="475488"/>
          </a:xfrm>
          <a:prstGeom prst="roundRect">
            <a:avLst/>
          </a:prstGeom>
          <a:solidFill>
            <a:srgbClr val="11263A"/>
          </a:solidFill>
          <a:ln w="12700">
            <a:solidFill>
              <a:srgbClr val="1A354B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88720" y="5129784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C997"/>
                </a:solidFill>
              </a:rPr>
              <a:t>Automation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88920" y="5129784"/>
            <a:ext cx="7955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7FA"/>
                </a:solidFill>
              </a:rPr>
              <a:t>Restricted tokens + protected deployments + artifact integrity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" y="6144768"/>
            <a:ext cx="10835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i="1" dirty="0">
                <a:solidFill>
                  <a:srgbClr val="6F879C"/>
                </a:solidFill>
              </a:rPr>
              <a:t>Baseline synthesized from NIST SSDF, GitHub security guidance, and OWASP secure development guidance.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0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20C997"/>
                </a:solidFill>
              </a:rPr>
              <a:t>REFERENCES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83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F7FA"/>
                </a:solidFill>
              </a:rPr>
              <a:t>Sources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99032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BCB"/>
                </a:solidFill>
              </a:rPr>
              <a:t>Primary guidance used for this presentation.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C997"/>
                </a:solidFill>
              </a:rPr>
              <a:t>NIST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65960" y="18745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F7FA"/>
                </a:solidFill>
              </a:rPr>
              <a:t>Secure Software Development Framework (SSDF), SP 800-218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080760" y="187452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9BBCB"/>
                </a:solidFill>
              </a:rPr>
              <a:t>https://csrc.nist.gov/projects/ssdf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77240" y="253288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C997"/>
                </a:solidFill>
              </a:rPr>
              <a:t>GitHub Docs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65960" y="253288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F7FA"/>
                </a:solidFill>
              </a:rPr>
              <a:t>GitHub security features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080760" y="2532888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9BBCB"/>
                </a:solidFill>
              </a:rPr>
              <a:t>https://docs.github.com/en/code-security/getting-started/github-security-features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77240" y="31912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C997"/>
                </a:solidFill>
              </a:rPr>
              <a:t>GitHub Docs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65960" y="319125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F7FA"/>
                </a:solidFill>
              </a:rPr>
              <a:t>Best practices for securing code in your supply chain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80760" y="3191256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9BBCB"/>
                </a:solidFill>
              </a:rPr>
              <a:t>https://docs.github.com/en/code-security/tutorials/implement-supply-chain-best-practices/securing-code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77240" y="38496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C997"/>
                </a:solidFill>
              </a:rPr>
              <a:t>GitHub Docs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65960" y="384962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F7FA"/>
                </a:solidFill>
              </a:rPr>
              <a:t>Dependency review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80760" y="3849624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9BBCB"/>
                </a:solidFill>
              </a:rPr>
              <a:t>https://docs.github.com/en/code-security/concepts/supply-chain-security/dependency-review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77240" y="450799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C997"/>
                </a:solidFill>
              </a:rPr>
              <a:t>OWASP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65960" y="450799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F7FA"/>
                </a:solidFill>
              </a:rPr>
              <a:t>CI/CD Security Cheat Sheet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80760" y="450799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9BBCB"/>
                </a:solidFill>
              </a:rPr>
              <a:t>https://cheatsheetseries.owasp.org/cheatsheets/CI_CD_Security_Cheat_Sheet.html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77240" y="516636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C997"/>
                </a:solidFill>
              </a:rPr>
              <a:t>OWASP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65960" y="516636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F7FA"/>
                </a:solidFill>
              </a:rPr>
              <a:t>Secure Code Review Cheat Sheet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080760" y="516636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9BBCB"/>
                </a:solidFill>
              </a:rPr>
              <a:t>https://cheatsheetseries.owasp.org/cheatsheets/Secure_Code_Review_Cheat_Sheet.html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77240" y="5897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99C"/>
                </a:solidFill>
              </a:rPr>
              <a:t>Accessed September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0A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923</Words>
  <Application>Microsoft Office PowerPoint</Application>
  <PresentationFormat>Widescreen</PresentationFormat>
  <Paragraphs>143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Bellevue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Controls in Shared Source Code Repositories</dc:title>
  <dc:subject>Security Controls in Shared Source Code Repositories</dc:subject>
  <dc:creator>Brady Heinz</dc:creator>
  <cp:lastModifiedBy>Brady Heinz</cp:lastModifiedBy>
  <cp:revision>2</cp:revision>
  <dcterms:created xsi:type="dcterms:W3CDTF">2026-09-30T01:24:56Z</dcterms:created>
  <dcterms:modified xsi:type="dcterms:W3CDTF">2026-09-30T01:28:06Z</dcterms:modified>
</cp:coreProperties>
</file>