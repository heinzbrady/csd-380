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2034" autoAdjust="0"/>
  </p:normalViewPr>
  <p:slideViewPr>
    <p:cSldViewPr snapToGrid="0" snapToObjects="1">
      <p:cViewPr varScale="1">
        <p:scale>
          <a:sx n="79" d="100"/>
          <a:sy n="79" d="100"/>
        </p:scale>
        <p:origin x="17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082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VALUE STREAM MAPPING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7324D"/>
                </a:solidFill>
              </a:rPr>
              <a:t>Preparing for a Home Baseball Game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011680" y="27432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F75B5"/>
                </a:solidFill>
              </a:rPr>
              <a:t>Current State → Lean Metrics → Future State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920240" y="3794760"/>
            <a:ext cx="2103120" cy="914400"/>
          </a:xfrm>
          <a:prstGeom prst="chevron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0" y="3794760"/>
            <a:ext cx="2103120" cy="914400"/>
          </a:xfrm>
          <a:prstGeom prst="chevron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38160" y="3794760"/>
            <a:ext cx="2103120" cy="914400"/>
          </a:xfrm>
          <a:prstGeom prst="chevron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57400" y="409651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Visualize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166360" y="409651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1F1F"/>
                </a:solidFill>
              </a:rPr>
              <a:t>Analyze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75320" y="409651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Optimize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25880" y="516636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1F1F"/>
                </a:solidFill>
              </a:rPr>
              <a:t>Goal: have the field, equipment, coaches, and players ready for first pitch with less wasted time and a better pregame buffer.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</a:rPr>
              <a:t>Brady Heinz | Module 5.2 Assignment |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Current-State Value Stream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The existing process is modeled primarily as sequential work.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10996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874520"/>
            <a:ext cx="1234440" cy="960120"/>
          </a:xfrm>
          <a:prstGeom prst="roundRect">
            <a:avLst>
              <a:gd name="adj" fmla="val 4762"/>
            </a:avLst>
          </a:prstGeom>
          <a:solidFill>
            <a:srgbClr val="2F75B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66344" y="2039112"/>
            <a:ext cx="1124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Field Prep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" y="2468880"/>
            <a:ext cx="1088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45 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64208" y="2185416"/>
            <a:ext cx="164592" cy="310896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47088" y="1874520"/>
            <a:ext cx="1234440" cy="960120"/>
          </a:xfrm>
          <a:prstGeom prst="roundRect">
            <a:avLst>
              <a:gd name="adj" fmla="val 4762"/>
            </a:avLst>
          </a:prstGeom>
          <a:solidFill>
            <a:srgbClr val="2F75B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01952" y="2039112"/>
            <a:ext cx="1124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Bases &amp; Lines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468880"/>
            <a:ext cx="1088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20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99816" y="2185416"/>
            <a:ext cx="164592" cy="310896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82696" y="1874520"/>
            <a:ext cx="1234440" cy="960120"/>
          </a:xfrm>
          <a:prstGeom prst="roundRect">
            <a:avLst>
              <a:gd name="adj" fmla="val 4762"/>
            </a:avLst>
          </a:prstGeom>
          <a:solidFill>
            <a:srgbClr val="2F75B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2039112"/>
            <a:ext cx="1124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Scoreboard &amp; Rosters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2468880"/>
            <a:ext cx="1088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15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35424" y="2185416"/>
            <a:ext cx="164592" cy="310896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18304" y="1874520"/>
            <a:ext cx="1234440" cy="960120"/>
          </a:xfrm>
          <a:prstGeom prst="roundRect">
            <a:avLst>
              <a:gd name="adj" fmla="val 4762"/>
            </a:avLst>
          </a:prstGeom>
          <a:solidFill>
            <a:srgbClr val="2F75B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73168" y="2039112"/>
            <a:ext cx="1124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Equipment Setup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91456" y="2468880"/>
            <a:ext cx="1088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15 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71032" y="2185416"/>
            <a:ext cx="164592" cy="310896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53912" y="1874520"/>
            <a:ext cx="1234440" cy="960120"/>
          </a:xfrm>
          <a:prstGeom prst="roundRect">
            <a:avLst>
              <a:gd name="adj" fmla="val 4762"/>
            </a:avLst>
          </a:prstGeom>
          <a:solidFill>
            <a:srgbClr val="FFC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08776" y="2039112"/>
            <a:ext cx="1124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</a:rPr>
              <a:t>Batting Practice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27064" y="2468880"/>
            <a:ext cx="1088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45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06640" y="2185416"/>
            <a:ext cx="164592" cy="310896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589520" y="1874520"/>
            <a:ext cx="1234440" cy="960120"/>
          </a:xfrm>
          <a:prstGeom prst="roundRect">
            <a:avLst>
              <a:gd name="adj" fmla="val 4762"/>
            </a:avLst>
          </a:prstGeom>
          <a:solidFill>
            <a:srgbClr val="FFC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644384" y="2039112"/>
            <a:ext cx="1124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</a:rPr>
              <a:t>Field Touch-Up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62672" y="2468880"/>
            <a:ext cx="1088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10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842248" y="2185416"/>
            <a:ext cx="164592" cy="310896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025128" y="1874520"/>
            <a:ext cx="1234440" cy="960120"/>
          </a:xfrm>
          <a:prstGeom prst="roundRect">
            <a:avLst>
              <a:gd name="adj" fmla="val 4762"/>
            </a:avLst>
          </a:prstGeom>
          <a:solidFill>
            <a:srgbClr val="70AD4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079992" y="2039112"/>
            <a:ext cx="1124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Team Warmup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098280" y="2468880"/>
            <a:ext cx="1088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20 min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277856" y="2185416"/>
            <a:ext cx="164592" cy="310896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460736" y="1874520"/>
            <a:ext cx="1234440" cy="960120"/>
          </a:xfrm>
          <a:prstGeom prst="roundRect">
            <a:avLst>
              <a:gd name="adj" fmla="val 4762"/>
            </a:avLst>
          </a:prstGeom>
          <a:solidFill>
            <a:srgbClr val="70AD4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515600" y="2039112"/>
            <a:ext cx="1124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Final Meeting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533888" y="2468880"/>
            <a:ext cx="1088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10 min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86200" y="3886200"/>
            <a:ext cx="4389120" cy="11430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206240" y="4114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</a:rPr>
              <a:t>Estimated Current Cycle Time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206240" y="45079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75B5"/>
                </a:solidFill>
              </a:rPr>
              <a:t>180 minutes = 3 hours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280160" y="55321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F1F1F"/>
                </a:solidFill>
              </a:rPr>
              <a:t>Main issue: tasks that can be done by different people are waiting on one another instead of occurring in parallel.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502920" y="6510528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</a:rPr>
              <a:t>Brady Heinz | Module 5.2 Assignment |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Lean Metrics &amp; Waste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Cycle time shows the total pregame process; flow time shows where the time is being spent.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10996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6583680" cy="3950208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Activity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Flow Time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Lean Observation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Field preparation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45 min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Necessary work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Bases and lines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20 min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Necessary work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Scoreboard and rosters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15 min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Can overlap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Equipment setup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15 min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Can overlap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Batting practice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45 min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Necessary work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Final field touch-up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10 min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Necessary after BP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Team warmup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20 min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Necessary work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Final meeting / lineup exchange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10 min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</a:rPr>
                        <a:t>Necessary work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1417320"/>
            <a:ext cx="6583680" cy="43891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15270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Activity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584448" y="152704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Flow Time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28032" y="152704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Lean Observation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26680" y="1508760"/>
            <a:ext cx="3703320" cy="1234440"/>
          </a:xfrm>
          <a:prstGeom prst="roundRect">
            <a:avLst/>
          </a:prstGeom>
          <a:solidFill>
            <a:srgbClr val="FFF4CC"/>
          </a:solidFill>
          <a:ln w="254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001000" y="17373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1F1F"/>
                </a:solidFill>
              </a:rPr>
              <a:t>Waste Identified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028432" y="21214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1F"/>
                </a:solidFill>
              </a:rPr>
              <a:t>Waiting caused by doing independent tasks sequentially.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26680" y="3063240"/>
            <a:ext cx="3703320" cy="1417320"/>
          </a:xfrm>
          <a:prstGeom prst="roundRect">
            <a:avLst/>
          </a:prstGeom>
          <a:solidFill>
            <a:srgbClr val="E9F4E3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955280" y="33101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1F1F"/>
                </a:solidFill>
              </a:rPr>
              <a:t>Improvement Opportunity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973568" y="367588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1F"/>
                </a:solidFill>
              </a:rPr>
              <a:t>Assign field crew, coaches, and players separate responsibilities so multiple activities can happen at the same time.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" y="6510528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</a:rPr>
              <a:t>Brady Heinz | Module 5.2 Assignment |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Future-State Value Stream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Parallel work reduces waiting while keeping the important baseball activities intact.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10996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417320" cy="1143000"/>
          </a:xfrm>
          <a:prstGeom prst="round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8013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FIELD CREW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11680" y="1490472"/>
            <a:ext cx="1801368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57400" y="1600200"/>
            <a:ext cx="1709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75B5"/>
                </a:solidFill>
              </a:rPr>
              <a:t>0–45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7400" y="1856232"/>
            <a:ext cx="1709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Prepare field &amp; mound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22776" y="1490472"/>
            <a:ext cx="1801368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68496" y="1600200"/>
            <a:ext cx="1709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75B5"/>
                </a:solidFill>
              </a:rPr>
              <a:t>45–65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68496" y="1856232"/>
            <a:ext cx="1709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Bases &amp; chalk lines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33872" y="1490472"/>
            <a:ext cx="1801368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79592" y="1600200"/>
            <a:ext cx="1709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75B5"/>
                </a:solidFill>
              </a:rPr>
              <a:t>65–110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79592" y="1856232"/>
            <a:ext cx="1709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Monitor field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44968" y="1490472"/>
            <a:ext cx="1801368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90688" y="1600200"/>
            <a:ext cx="1709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75B5"/>
                </a:solidFill>
              </a:rPr>
              <a:t>110–120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90688" y="1856232"/>
            <a:ext cx="1709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Final touch-up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56064" y="1490472"/>
            <a:ext cx="1801368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701784" y="1600200"/>
            <a:ext cx="1709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75B5"/>
                </a:solidFill>
              </a:rPr>
              <a:t>120–150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01784" y="1856232"/>
            <a:ext cx="1709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Final field check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063240"/>
            <a:ext cx="1417320" cy="1143000"/>
          </a:xfrm>
          <a:prstGeom prst="round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4472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</a:rPr>
              <a:t>COACH / ASSISTANT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011680" y="3136392"/>
            <a:ext cx="1482852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057400" y="3246120"/>
            <a:ext cx="13914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000"/>
                </a:solidFill>
              </a:rPr>
              <a:t>0–45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57400" y="3502152"/>
            <a:ext cx="13914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Scoreboard + roster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04260" y="3136392"/>
            <a:ext cx="1482852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49980" y="3246120"/>
            <a:ext cx="13914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000"/>
                </a:solidFill>
              </a:rPr>
              <a:t>45–65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49980" y="3502152"/>
            <a:ext cx="13914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Finish lineup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96840" y="3136392"/>
            <a:ext cx="1482852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42560" y="3246120"/>
            <a:ext cx="13914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000"/>
                </a:solidFill>
              </a:rPr>
              <a:t>65–110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42560" y="3502152"/>
            <a:ext cx="13914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Run batting practice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89420" y="3136392"/>
            <a:ext cx="1482852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35140" y="3246120"/>
            <a:ext cx="13914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000"/>
                </a:solidFill>
              </a:rPr>
              <a:t>110–120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35140" y="3502152"/>
            <a:ext cx="13914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Prepare defense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382000" y="3136392"/>
            <a:ext cx="1482852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427720" y="3246120"/>
            <a:ext cx="13914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000"/>
                </a:solidFill>
              </a:rPr>
              <a:t>120–140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27720" y="3502152"/>
            <a:ext cx="13914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Team warmup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974580" y="3136392"/>
            <a:ext cx="1482852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020300" y="3246120"/>
            <a:ext cx="13914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000"/>
                </a:solidFill>
              </a:rPr>
              <a:t>140–150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20300" y="3502152"/>
            <a:ext cx="13914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Meeting / lineup exchange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11480" y="4709160"/>
            <a:ext cx="1417320" cy="1143000"/>
          </a:xfrm>
          <a:prstGeom prst="round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2920" y="50932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PLAYERS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011680" y="4782312"/>
            <a:ext cx="1482852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057400" y="4892040"/>
            <a:ext cx="13914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0AD47"/>
                </a:solidFill>
              </a:rPr>
              <a:t>0–45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057400" y="5148072"/>
            <a:ext cx="13914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Equipment setup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04260" y="4782312"/>
            <a:ext cx="1482852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49980" y="4892040"/>
            <a:ext cx="13914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0AD47"/>
                </a:solidFill>
              </a:rPr>
              <a:t>45–65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49980" y="5148072"/>
            <a:ext cx="13914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Warmup / BP setup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196840" y="4782312"/>
            <a:ext cx="1482852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242560" y="4892040"/>
            <a:ext cx="13914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0AD47"/>
                </a:solidFill>
              </a:rPr>
              <a:t>65–110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42560" y="5148072"/>
            <a:ext cx="13914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Batting practice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789420" y="4782312"/>
            <a:ext cx="1482852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835140" y="4892040"/>
            <a:ext cx="13914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0AD47"/>
                </a:solidFill>
              </a:rPr>
              <a:t>110–120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835140" y="5148072"/>
            <a:ext cx="13914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Finish BP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382000" y="4782312"/>
            <a:ext cx="1482852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427720" y="4892040"/>
            <a:ext cx="13914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0AD47"/>
                </a:solidFill>
              </a:rPr>
              <a:t>120–140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427720" y="5148072"/>
            <a:ext cx="13914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Team warmup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974580" y="4782312"/>
            <a:ext cx="1482852" cy="9875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0020300" y="4892040"/>
            <a:ext cx="13914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0AD47"/>
                </a:solidFill>
              </a:rPr>
              <a:t>140–150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020300" y="5148072"/>
            <a:ext cx="13914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Team meeting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02920" y="6510528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</a:rPr>
              <a:t>Brady Heinz | Module 5.2 Assignment |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Optimized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The future-state process focuses on eliminating waiting and standardizing responsibilities.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10996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2606040" cy="1417320"/>
          </a:xfrm>
          <a:prstGeom prst="roundRect">
            <a:avLst/>
          </a:prstGeom>
          <a:solidFill>
            <a:srgbClr val="FDECEC"/>
          </a:solidFill>
          <a:ln w="254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276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1F1F"/>
                </a:solidFill>
              </a:rPr>
              <a:t>Current Cycle Time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324D"/>
                </a:solidFill>
              </a:rPr>
              <a:t>180 min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31520" y="244144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3 hr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606040" cy="141732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16276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1F1F"/>
                </a:solidFill>
              </a:rPr>
              <a:t>Future Cycle Time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324D"/>
                </a:solidFill>
              </a:rPr>
              <a:t>150 min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520440" y="244144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2 hr 30 min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417320"/>
            <a:ext cx="2606040" cy="1417320"/>
          </a:xfrm>
          <a:prstGeom prst="roundRect">
            <a:avLst/>
          </a:prstGeom>
          <a:solidFill>
            <a:srgbClr val="E9F4E3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16276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1F1F"/>
                </a:solidFill>
              </a:rPr>
              <a:t>Time Saved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2011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324D"/>
                </a:solidFill>
              </a:rPr>
              <a:t>30 min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309360" y="244144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per home game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61120" y="1417320"/>
            <a:ext cx="2606040" cy="1417320"/>
          </a:xfrm>
          <a:prstGeom prst="roundRect">
            <a:avLst/>
          </a:prstGeom>
          <a:solidFill>
            <a:srgbClr val="FFF4CC"/>
          </a:solidFill>
          <a:ln w="254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098280" y="16276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1F1F"/>
                </a:solidFill>
              </a:rPr>
              <a:t>Cycle-Time Reduction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98280" y="2011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324D"/>
                </a:solidFill>
              </a:rPr>
              <a:t>16.7%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9098280" y="244144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improvement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</a:rPr>
              <a:t>Optimization Plan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77240" y="3794760"/>
            <a:ext cx="10607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</a:rPr>
              <a:t>Assign responsibilities before each home game: field crew, coach/assistant, and players.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</a:rPr>
              <a:t>Complete scoreboard, roster, and equipment setup while field preparation is underway.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</a:rPr>
              <a:t>Use a standard pregame checklist so important tasks are not duplicated or forgotten.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</a:rPr>
              <a:t>Use the 30-minute improvement as additional preparation/buffer time for weather, field, equipment, or scoreboard problems.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2880360" y="5623560"/>
            <a:ext cx="6400800" cy="50292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063240" y="5769864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Result: a more predictable, organized, and efficient path to first pitch.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</a:rPr>
              <a:t>Brady Heinz | Module 5.2 Assignment |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496</Words>
  <Application>Microsoft Office PowerPoint</Application>
  <PresentationFormat>Widescreen</PresentationFormat>
  <Paragraphs>133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Preparing for a Home Baseball Game</dc:title>
  <dc:subject>Module 5.2 Value Stream Mapping</dc:subject>
  <dc:creator>Brady Heinz</dc:creator>
  <cp:lastModifiedBy>Brady Heinz</cp:lastModifiedBy>
  <cp:revision>2</cp:revision>
  <dcterms:created xsi:type="dcterms:W3CDTF">2026-09-11T01:45:29Z</dcterms:created>
  <dcterms:modified xsi:type="dcterms:W3CDTF">2026-09-11T01:50:17Z</dcterms:modified>
</cp:coreProperties>
</file>